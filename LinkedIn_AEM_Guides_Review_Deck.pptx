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82" r:id="rId6"/>
    <p:sldId id="260" r:id="rId7"/>
    <p:sldId id="261" r:id="rId8"/>
    <p:sldId id="262" r:id="rId9"/>
    <p:sldId id="263" r:id="rId10"/>
    <p:sldId id="264" r:id="rId11"/>
    <p:sldId id="277" r:id="rId12"/>
    <p:sldId id="278" r:id="rId13"/>
  </p:sldIdLst>
  <p:sldSz cx="12192000" cy="6858000"/>
  <p:notesSz cx="6858000" cy="9144000"/>
  <p:embeddedFontLst>
    <p:embeddedFont>
      <p:font typeface="Century Gothic" panose="020B0502020202020204" pitchFamily="34" charset="0"/>
      <p:regular r:id="rId15"/>
      <p:bold r:id="rId16"/>
      <p:italic r:id="rId17"/>
      <p:boldItalic r:id="rId18"/>
    </p:embeddedFont>
    <p:embeddedFont>
      <p:font typeface="Noto Sans Symbols" pitchFamily="2" charset="0"/>
      <p:regular r:id="rId19"/>
      <p:bold r:id="rId20"/>
    </p:embeddedFont>
    <p:embeddedFont>
      <p:font typeface="Play" panose="020B0604020202020204" charset="0"/>
      <p:regular r:id="rId21"/>
      <p:bold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i5u6f7WMJQ6iVr/S38UyrdFg4nM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784" autoAdjust="0"/>
  </p:normalViewPr>
  <p:slideViewPr>
    <p:cSldViewPr snapToGrid="0">
      <p:cViewPr varScale="1">
        <p:scale>
          <a:sx n="82" d="100"/>
          <a:sy n="82" d="100"/>
        </p:scale>
        <p:origin x="69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 name="Google Shape;9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5" name="Google Shape;125;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DB4BF9A3-5882-6021-DD86-B9563BCCE489}"/>
            </a:ext>
          </a:extLst>
        </p:cNvPr>
        <p:cNvGrpSpPr/>
        <p:nvPr/>
      </p:nvGrpSpPr>
      <p:grpSpPr>
        <a:xfrm>
          <a:off x="0" y="0"/>
          <a:ext cx="0" cy="0"/>
          <a:chOff x="0" y="0"/>
          <a:chExt cx="0" cy="0"/>
        </a:xfrm>
      </p:grpSpPr>
      <p:sp>
        <p:nvSpPr>
          <p:cNvPr id="134" name="Google Shape;134;p23:notes">
            <a:extLst>
              <a:ext uri="{FF2B5EF4-FFF2-40B4-BE49-F238E27FC236}">
                <a16:creationId xmlns:a16="http://schemas.microsoft.com/office/drawing/2014/main" id="{143F3DB1-30AF-0B6F-383C-5A8E341D58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23:notes">
            <a:extLst>
              <a:ext uri="{FF2B5EF4-FFF2-40B4-BE49-F238E27FC236}">
                <a16:creationId xmlns:a16="http://schemas.microsoft.com/office/drawing/2014/main" id="{84844FA6-C086-38B8-83D5-ACA746DF1E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60853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9" name="Google Shape;32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a:extLst>
            <a:ext uri="{FF2B5EF4-FFF2-40B4-BE49-F238E27FC236}">
              <a16:creationId xmlns:a16="http://schemas.microsoft.com/office/drawing/2014/main" id="{09FECC5C-54A7-7654-3DE5-13521B0A2440}"/>
            </a:ext>
          </a:extLst>
        </p:cNvPr>
        <p:cNvGrpSpPr/>
        <p:nvPr/>
      </p:nvGrpSpPr>
      <p:grpSpPr>
        <a:xfrm>
          <a:off x="0" y="0"/>
          <a:ext cx="0" cy="0"/>
          <a:chOff x="0" y="0"/>
          <a:chExt cx="0" cy="0"/>
        </a:xfrm>
      </p:grpSpPr>
      <p:sp>
        <p:nvSpPr>
          <p:cNvPr id="328" name="Google Shape;328;p10:notes">
            <a:extLst>
              <a:ext uri="{FF2B5EF4-FFF2-40B4-BE49-F238E27FC236}">
                <a16:creationId xmlns:a16="http://schemas.microsoft.com/office/drawing/2014/main" id="{98436B08-0069-6C06-0889-66B5B2F0D32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9" name="Google Shape;329;p10:notes">
            <a:extLst>
              <a:ext uri="{FF2B5EF4-FFF2-40B4-BE49-F238E27FC236}">
                <a16:creationId xmlns:a16="http://schemas.microsoft.com/office/drawing/2014/main" id="{DC737213-D989-0328-7127-CBBDB7486B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78884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
        <p:cNvGrpSpPr/>
        <p:nvPr/>
      </p:nvGrpSpPr>
      <p:grpSpPr>
        <a:xfrm>
          <a:off x="0" y="0"/>
          <a:ext cx="0" cy="0"/>
          <a:chOff x="0" y="0"/>
          <a:chExt cx="0" cy="0"/>
        </a:xfrm>
      </p:grpSpPr>
      <p:sp>
        <p:nvSpPr>
          <p:cNvPr id="18" name="Google Shape;18;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0" name="Google Shape;30;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0"/>
          <p:cNvSpPr>
            <a:spLocks noGrp="1"/>
          </p:cNvSpPr>
          <p:nvPr>
            <p:ph type="pic" idx="2"/>
          </p:nvPr>
        </p:nvSpPr>
        <p:spPr>
          <a:xfrm>
            <a:off x="5183188" y="987425"/>
            <a:ext cx="6172200" cy="4873625"/>
          </a:xfrm>
          <a:prstGeom prst="rect">
            <a:avLst/>
          </a:prstGeom>
          <a:noFill/>
          <a:ln>
            <a:noFill/>
          </a:ln>
        </p:spPr>
      </p:sp>
      <p:sp>
        <p:nvSpPr>
          <p:cNvPr id="64" name="Google Shape;64;p2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
        <p:cNvGrpSpPr/>
        <p:nvPr/>
      </p:nvGrpSpPr>
      <p:grpSpPr>
        <a:xfrm>
          <a:off x="0" y="0"/>
          <a:ext cx="0" cy="0"/>
          <a:chOff x="0" y="0"/>
          <a:chExt cx="0" cy="0"/>
        </a:xfrm>
      </p:grpSpPr>
      <p:sp>
        <p:nvSpPr>
          <p:cNvPr id="84" name="Google Shape;84;p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85" name="Google Shape;85;p1"/>
          <p:cNvPicPr preferRelativeResize="0"/>
          <p:nvPr/>
        </p:nvPicPr>
        <p:blipFill rotWithShape="1">
          <a:blip r:embed="rId3">
            <a:alphaModFix/>
          </a:blip>
          <a:srcRect r="18416" b="9092"/>
          <a:stretch/>
        </p:blipFill>
        <p:spPr>
          <a:xfrm>
            <a:off x="3523488" y="10"/>
            <a:ext cx="8668512" cy="6857990"/>
          </a:xfrm>
          <a:prstGeom prst="rect">
            <a:avLst/>
          </a:prstGeom>
          <a:noFill/>
          <a:ln>
            <a:noFill/>
          </a:ln>
        </p:spPr>
      </p:pic>
      <p:sp>
        <p:nvSpPr>
          <p:cNvPr id="86" name="Google Shape;86;p1"/>
          <p:cNvSpPr/>
          <p:nvPr/>
        </p:nvSpPr>
        <p:spPr>
          <a:xfrm>
            <a:off x="0" y="0"/>
            <a:ext cx="9756601" cy="6858000"/>
          </a:xfrm>
          <a:prstGeom prst="rect">
            <a:avLst/>
          </a:prstGeom>
          <a:gradFill>
            <a:gsLst>
              <a:gs pos="0">
                <a:srgbClr val="FFFFFF">
                  <a:alpha val="0"/>
                </a:srgbClr>
              </a:gs>
              <a:gs pos="19000">
                <a:srgbClr val="FFFFFF">
                  <a:alpha val="38039"/>
                </a:srgbClr>
              </a:gs>
              <a:gs pos="35000">
                <a:srgbClr val="FFFFFF">
                  <a:alpha val="78823"/>
                </a:srgbClr>
              </a:gs>
              <a:gs pos="58000">
                <a:schemeClr val="lt1"/>
              </a:gs>
              <a:gs pos="100000">
                <a:schemeClr val="lt1"/>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7" name="Google Shape;87;p1"/>
          <p:cNvSpPr txBox="1"/>
          <p:nvPr/>
        </p:nvSpPr>
        <p:spPr>
          <a:xfrm>
            <a:off x="479820" y="2966124"/>
            <a:ext cx="4508061"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5334"/>
              <a:buFont typeface="Arial"/>
              <a:buNone/>
            </a:pPr>
            <a:r>
              <a:rPr lang="en-US" sz="5334" b="0" i="0" u="none" strike="noStrike" cap="none">
                <a:solidFill>
                  <a:schemeClr val="dk1"/>
                </a:solidFill>
                <a:latin typeface="Century Gothic"/>
                <a:ea typeface="Century Gothic"/>
                <a:cs typeface="Century Gothic"/>
                <a:sym typeface="Century Gothic"/>
              </a:rPr>
              <a:t>AEM Guides</a:t>
            </a:r>
            <a:endParaRPr sz="5334" b="0" i="0" u="none" strike="noStrike" cap="none">
              <a:solidFill>
                <a:schemeClr val="dk1"/>
              </a:solidFill>
              <a:latin typeface="Arial"/>
              <a:ea typeface="Arial"/>
              <a:cs typeface="Arial"/>
              <a:sym typeface="Arial"/>
            </a:endParaRPr>
          </a:p>
        </p:txBody>
      </p:sp>
      <p:sp>
        <p:nvSpPr>
          <p:cNvPr id="88" name="Google Shape;88;p1"/>
          <p:cNvSpPr txBox="1"/>
          <p:nvPr/>
        </p:nvSpPr>
        <p:spPr>
          <a:xfrm>
            <a:off x="478924" y="5796434"/>
            <a:ext cx="3588767"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7F7F7F"/>
                </a:solidFill>
                <a:latin typeface="Century Gothic"/>
                <a:ea typeface="Century Gothic"/>
                <a:cs typeface="Century Gothic"/>
                <a:sym typeface="Century Gothic"/>
              </a:rPr>
              <a:t>Mar 2026</a:t>
            </a:r>
            <a:endParaRPr sz="2700" b="0" i="0" u="none" strike="noStrike" cap="none">
              <a:solidFill>
                <a:schemeClr val="dk1"/>
              </a:solidFill>
              <a:latin typeface="Arial"/>
              <a:ea typeface="Arial"/>
              <a:cs typeface="Arial"/>
              <a:sym typeface="Arial"/>
            </a:endParaRPr>
          </a:p>
        </p:txBody>
      </p:sp>
      <p:cxnSp>
        <p:nvCxnSpPr>
          <p:cNvPr id="89" name="Google Shape;89;p1"/>
          <p:cNvCxnSpPr/>
          <p:nvPr/>
        </p:nvCxnSpPr>
        <p:spPr>
          <a:xfrm rot="10800000" flipH="1">
            <a:off x="479896" y="5631851"/>
            <a:ext cx="1530401" cy="14796"/>
          </a:xfrm>
          <a:prstGeom prst="straightConnector1">
            <a:avLst/>
          </a:prstGeom>
          <a:noFill/>
          <a:ln w="19050" cap="flat" cmpd="sng">
            <a:solidFill>
              <a:srgbClr val="AEAEAE"/>
            </a:solidFill>
            <a:prstDash val="solid"/>
            <a:miter lim="800000"/>
            <a:headEnd type="none" w="sm" len="sm"/>
            <a:tailEnd type="none" w="sm" len="sm"/>
          </a:ln>
        </p:spPr>
      </p:cxnSp>
      <p:sp>
        <p:nvSpPr>
          <p:cNvPr id="90" name="Google Shape;90;p1"/>
          <p:cNvSpPr txBox="1"/>
          <p:nvPr/>
        </p:nvSpPr>
        <p:spPr>
          <a:xfrm>
            <a:off x="479819" y="3889197"/>
            <a:ext cx="4501867" cy="3795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67"/>
              <a:buFont typeface="Arial"/>
              <a:buNone/>
            </a:pPr>
            <a:r>
              <a:rPr lang="en-US" sz="1867" dirty="0">
                <a:solidFill>
                  <a:srgbClr val="D34D65"/>
                </a:solidFill>
                <a:latin typeface="Century Gothic"/>
                <a:sym typeface="Century Gothic"/>
              </a:rPr>
              <a:t>R E V I E W</a:t>
            </a:r>
            <a:endParaRPr sz="1867" b="0" i="0" u="none" strike="noStrike" cap="none" dirty="0">
              <a:solidFill>
                <a:srgbClr val="D34D65"/>
              </a:solidFill>
              <a:latin typeface="Arial"/>
              <a:ea typeface="Arial"/>
              <a:cs typeface="Arial"/>
              <a:sym typeface="Arial"/>
            </a:endParaRPr>
          </a:p>
        </p:txBody>
      </p:sp>
      <p:sp>
        <p:nvSpPr>
          <p:cNvPr id="91" name="Google Shape;91;p1"/>
          <p:cNvSpPr txBox="1"/>
          <p:nvPr/>
        </p:nvSpPr>
        <p:spPr>
          <a:xfrm>
            <a:off x="473624" y="649149"/>
            <a:ext cx="4501867" cy="3795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67"/>
              <a:buFont typeface="Arial"/>
              <a:buNone/>
            </a:pPr>
            <a:r>
              <a:rPr lang="en-US" sz="1867" b="0" i="0" u="none" strike="noStrike" cap="none">
                <a:solidFill>
                  <a:srgbClr val="7F7F7F"/>
                </a:solidFill>
                <a:latin typeface="Century Gothic"/>
                <a:ea typeface="Century Gothic"/>
                <a:cs typeface="Century Gothic"/>
                <a:sym typeface="Century Gothic"/>
              </a:rPr>
              <a:t>Hashout Technologies</a:t>
            </a:r>
            <a:endParaRPr sz="1400" b="0" i="0" u="none" strike="noStrike" cap="none">
              <a:solidFill>
                <a:srgbClr val="000000"/>
              </a:solidFill>
              <a:latin typeface="Arial"/>
              <a:ea typeface="Arial"/>
              <a:cs typeface="Arial"/>
              <a:sym typeface="Arial"/>
            </a:endParaRPr>
          </a:p>
        </p:txBody>
      </p:sp>
      <p:grpSp>
        <p:nvGrpSpPr>
          <p:cNvPr id="92" name="Google Shape;92;p1"/>
          <p:cNvGrpSpPr/>
          <p:nvPr/>
        </p:nvGrpSpPr>
        <p:grpSpPr>
          <a:xfrm>
            <a:off x="7950772" y="5797468"/>
            <a:ext cx="3712959" cy="379591"/>
            <a:chOff x="11794541" y="940253"/>
            <a:chExt cx="5569440" cy="569387"/>
          </a:xfrm>
        </p:grpSpPr>
        <p:pic>
          <p:nvPicPr>
            <p:cNvPr id="93" name="Google Shape;93;p1"/>
            <p:cNvPicPr preferRelativeResize="0"/>
            <p:nvPr/>
          </p:nvPicPr>
          <p:blipFill rotWithShape="1">
            <a:blip r:embed="rId4">
              <a:alphaModFix/>
            </a:blip>
            <a:srcRect/>
            <a:stretch/>
          </p:blipFill>
          <p:spPr>
            <a:xfrm>
              <a:off x="14633526" y="1027704"/>
              <a:ext cx="2730455" cy="442301"/>
            </a:xfrm>
            <a:prstGeom prst="rect">
              <a:avLst/>
            </a:prstGeom>
            <a:noFill/>
            <a:ln>
              <a:noFill/>
            </a:ln>
          </p:spPr>
        </p:pic>
        <p:pic>
          <p:nvPicPr>
            <p:cNvPr id="94" name="Google Shape;94;p1"/>
            <p:cNvPicPr preferRelativeResize="0"/>
            <p:nvPr/>
          </p:nvPicPr>
          <p:blipFill rotWithShape="1">
            <a:blip r:embed="rId5">
              <a:alphaModFix/>
            </a:blip>
            <a:srcRect/>
            <a:stretch/>
          </p:blipFill>
          <p:spPr>
            <a:xfrm>
              <a:off x="11794541" y="972424"/>
              <a:ext cx="2086382" cy="532182"/>
            </a:xfrm>
            <a:prstGeom prst="rect">
              <a:avLst/>
            </a:prstGeom>
            <a:noFill/>
            <a:ln>
              <a:noFill/>
            </a:ln>
          </p:spPr>
        </p:pic>
        <p:sp>
          <p:nvSpPr>
            <p:cNvPr id="95" name="Google Shape;95;p1"/>
            <p:cNvSpPr txBox="1"/>
            <p:nvPr/>
          </p:nvSpPr>
          <p:spPr>
            <a:xfrm>
              <a:off x="14036604" y="940253"/>
              <a:ext cx="545288" cy="5693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67"/>
                <a:buFont typeface="Arial"/>
                <a:buNone/>
              </a:pPr>
              <a:r>
                <a:rPr lang="en-US" sz="1867" b="1" i="0" u="none" strike="noStrike" cap="none">
                  <a:solidFill>
                    <a:schemeClr val="lt1"/>
                  </a:solidFill>
                  <a:latin typeface="Century Gothic"/>
                  <a:ea typeface="Century Gothic"/>
                  <a:cs typeface="Century Gothic"/>
                  <a:sym typeface="Century Gothic"/>
                </a:rPr>
                <a:t>X</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
          <p:cNvSpPr txBox="1"/>
          <p:nvPr/>
        </p:nvSpPr>
        <p:spPr>
          <a:xfrm>
            <a:off x="725852" y="1679614"/>
            <a:ext cx="5675294" cy="677108"/>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US" sz="4000" b="0" i="0" u="none" strike="noStrike" cap="none">
                <a:solidFill>
                  <a:srgbClr val="D34C65"/>
                </a:solidFill>
                <a:latin typeface="Century Gothic"/>
                <a:ea typeface="Century Gothic"/>
                <a:cs typeface="Century Gothic"/>
                <a:sym typeface="Century Gothic"/>
              </a:rPr>
              <a:t>Training Agenda</a:t>
            </a:r>
            <a:endParaRPr sz="1200" b="0" i="0" u="none" strike="noStrike" cap="none">
              <a:solidFill>
                <a:schemeClr val="dk1"/>
              </a:solidFill>
              <a:latin typeface="Arial"/>
              <a:ea typeface="Arial"/>
              <a:cs typeface="Arial"/>
              <a:sym typeface="Arial"/>
            </a:endParaRPr>
          </a:p>
        </p:txBody>
      </p:sp>
      <p:grpSp>
        <p:nvGrpSpPr>
          <p:cNvPr id="101" name="Google Shape;101;p2"/>
          <p:cNvGrpSpPr/>
          <p:nvPr/>
        </p:nvGrpSpPr>
        <p:grpSpPr>
          <a:xfrm>
            <a:off x="727710" y="3038231"/>
            <a:ext cx="2812000" cy="1091090"/>
            <a:chOff x="1004241" y="3305870"/>
            <a:chExt cx="4218000" cy="1636634"/>
          </a:xfrm>
        </p:grpSpPr>
        <p:sp>
          <p:nvSpPr>
            <p:cNvPr id="102" name="Google Shape;102;p2"/>
            <p:cNvSpPr txBox="1"/>
            <p:nvPr/>
          </p:nvSpPr>
          <p:spPr>
            <a:xfrm>
              <a:off x="1007762" y="3305870"/>
              <a:ext cx="1783350" cy="523219"/>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1867"/>
                <a:buFont typeface="Arial"/>
                <a:buNone/>
              </a:pPr>
              <a:r>
                <a:rPr lang="en-US" sz="1867" b="1" i="0" u="none" strike="noStrike" cap="none">
                  <a:solidFill>
                    <a:srgbClr val="D24C65"/>
                  </a:solidFill>
                  <a:latin typeface="Century Gothic"/>
                  <a:ea typeface="Century Gothic"/>
                  <a:cs typeface="Century Gothic"/>
                  <a:sym typeface="Century Gothic"/>
                </a:rPr>
                <a:t>01</a:t>
              </a:r>
              <a:endParaRPr sz="1867" b="1" i="0" u="none" strike="noStrike" cap="none">
                <a:solidFill>
                  <a:srgbClr val="D24C65"/>
                </a:solidFill>
                <a:latin typeface="Century Gothic"/>
                <a:ea typeface="Century Gothic"/>
                <a:cs typeface="Century Gothic"/>
                <a:sym typeface="Century Gothic"/>
              </a:endParaRPr>
            </a:p>
          </p:txBody>
        </p:sp>
        <p:sp>
          <p:nvSpPr>
            <p:cNvPr id="103" name="Google Shape;103;p2"/>
            <p:cNvSpPr txBox="1"/>
            <p:nvPr/>
          </p:nvSpPr>
          <p:spPr>
            <a:xfrm>
              <a:off x="1004241" y="3865494"/>
              <a:ext cx="4218000" cy="1077010"/>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2133"/>
                <a:buFont typeface="Arial"/>
                <a:buNone/>
              </a:pPr>
              <a:r>
                <a:rPr lang="en-US" sz="2133" b="0" i="0" u="none" strike="noStrike" cap="none" dirty="0">
                  <a:solidFill>
                    <a:schemeClr val="dk1"/>
                  </a:solidFill>
                  <a:latin typeface="Century Gothic"/>
                  <a:ea typeface="Century Gothic"/>
                  <a:cs typeface="Century Gothic"/>
                  <a:sym typeface="Century Gothic"/>
                </a:rPr>
                <a:t>Introduction to </a:t>
              </a:r>
              <a:r>
                <a:rPr lang="en-US" sz="2133" dirty="0">
                  <a:solidFill>
                    <a:schemeClr val="dk1"/>
                  </a:solidFill>
                  <a:latin typeface="Century Gothic"/>
                  <a:ea typeface="Century Gothic"/>
                  <a:cs typeface="Century Gothic"/>
                  <a:sym typeface="Century Gothic"/>
                </a:rPr>
                <a:t>Review</a:t>
              </a:r>
              <a:endParaRPr sz="2133" b="0" i="0" u="none" strike="noStrike" cap="none" dirty="0">
                <a:solidFill>
                  <a:schemeClr val="dk1"/>
                </a:solidFill>
                <a:latin typeface="Arial"/>
                <a:ea typeface="Arial"/>
                <a:cs typeface="Arial"/>
                <a:sym typeface="Arial"/>
              </a:endParaRPr>
            </a:p>
          </p:txBody>
        </p:sp>
      </p:grpSp>
      <p:grpSp>
        <p:nvGrpSpPr>
          <p:cNvPr id="104" name="Google Shape;104;p2"/>
          <p:cNvGrpSpPr/>
          <p:nvPr/>
        </p:nvGrpSpPr>
        <p:grpSpPr>
          <a:xfrm>
            <a:off x="3612425" y="3038233"/>
            <a:ext cx="3841317" cy="788239"/>
            <a:chOff x="970239" y="3314529"/>
            <a:chExt cx="5761975" cy="1182356"/>
          </a:xfrm>
        </p:grpSpPr>
        <p:sp>
          <p:nvSpPr>
            <p:cNvPr id="105" name="Google Shape;105;p2"/>
            <p:cNvSpPr txBox="1"/>
            <p:nvPr/>
          </p:nvSpPr>
          <p:spPr>
            <a:xfrm>
              <a:off x="970239" y="3314529"/>
              <a:ext cx="1783350" cy="523220"/>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1867"/>
                <a:buFont typeface="Arial"/>
                <a:buNone/>
              </a:pPr>
              <a:r>
                <a:rPr lang="en-US" sz="1867" b="1" i="0" u="none" strike="noStrike" cap="none">
                  <a:solidFill>
                    <a:srgbClr val="D34D65"/>
                  </a:solidFill>
                  <a:latin typeface="Century Gothic"/>
                  <a:ea typeface="Century Gothic"/>
                  <a:cs typeface="Century Gothic"/>
                  <a:sym typeface="Century Gothic"/>
                </a:rPr>
                <a:t>02</a:t>
              </a:r>
              <a:endParaRPr sz="1867" b="1" i="0" u="none" strike="noStrike" cap="none">
                <a:solidFill>
                  <a:srgbClr val="D34D65"/>
                </a:solidFill>
                <a:latin typeface="Arial"/>
                <a:ea typeface="Arial"/>
                <a:cs typeface="Arial"/>
                <a:sym typeface="Arial"/>
              </a:endParaRPr>
            </a:p>
          </p:txBody>
        </p:sp>
        <p:sp>
          <p:nvSpPr>
            <p:cNvPr id="106" name="Google Shape;106;p2"/>
            <p:cNvSpPr txBox="1"/>
            <p:nvPr/>
          </p:nvSpPr>
          <p:spPr>
            <a:xfrm>
              <a:off x="976363" y="3919820"/>
              <a:ext cx="5755851" cy="577065"/>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US" sz="2100" b="0" i="0" u="none" strike="noStrike" cap="none" dirty="0">
                  <a:solidFill>
                    <a:schemeClr val="dk1"/>
                  </a:solidFill>
                  <a:latin typeface="Century Gothic"/>
                  <a:ea typeface="Century Gothic"/>
                  <a:cs typeface="Century Gothic"/>
                  <a:sym typeface="Century Gothic"/>
                </a:rPr>
                <a:t>Content Status Lifecycle</a:t>
              </a:r>
              <a:endParaRPr sz="2100" b="0" i="0" u="none" strike="noStrike" cap="none" dirty="0">
                <a:solidFill>
                  <a:schemeClr val="dk1"/>
                </a:solidFill>
                <a:latin typeface="Arial"/>
                <a:ea typeface="Arial"/>
                <a:cs typeface="Arial"/>
                <a:sym typeface="Arial"/>
              </a:endParaRPr>
            </a:p>
          </p:txBody>
        </p:sp>
      </p:grpSp>
      <p:grpSp>
        <p:nvGrpSpPr>
          <p:cNvPr id="107" name="Google Shape;107;p2"/>
          <p:cNvGrpSpPr/>
          <p:nvPr/>
        </p:nvGrpSpPr>
        <p:grpSpPr>
          <a:xfrm>
            <a:off x="7525236" y="3038232"/>
            <a:ext cx="3965855" cy="766654"/>
            <a:chOff x="970239" y="3314529"/>
            <a:chExt cx="5948782" cy="1149981"/>
          </a:xfrm>
        </p:grpSpPr>
        <p:sp>
          <p:nvSpPr>
            <p:cNvPr id="108" name="Google Shape;108;p2"/>
            <p:cNvSpPr txBox="1"/>
            <p:nvPr/>
          </p:nvSpPr>
          <p:spPr>
            <a:xfrm>
              <a:off x="970239" y="3314529"/>
              <a:ext cx="1783350" cy="523220"/>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1867"/>
                <a:buFont typeface="Arial"/>
                <a:buNone/>
              </a:pPr>
              <a:r>
                <a:rPr lang="en-US" sz="1867" b="1" i="0" u="none" strike="noStrike" cap="none">
                  <a:solidFill>
                    <a:srgbClr val="D34C65"/>
                  </a:solidFill>
                  <a:latin typeface="Century Gothic"/>
                  <a:ea typeface="Century Gothic"/>
                  <a:cs typeface="Century Gothic"/>
                  <a:sym typeface="Century Gothic"/>
                </a:rPr>
                <a:t>03</a:t>
              </a:r>
              <a:endParaRPr sz="1867" b="1" i="0" u="none" strike="noStrike" cap="none">
                <a:solidFill>
                  <a:srgbClr val="D34C65"/>
                </a:solidFill>
                <a:latin typeface="Arial"/>
                <a:ea typeface="Arial"/>
                <a:cs typeface="Arial"/>
                <a:sym typeface="Arial"/>
              </a:endParaRPr>
            </a:p>
          </p:txBody>
        </p:sp>
        <p:sp>
          <p:nvSpPr>
            <p:cNvPr id="109" name="Google Shape;109;p2"/>
            <p:cNvSpPr txBox="1"/>
            <p:nvPr/>
          </p:nvSpPr>
          <p:spPr>
            <a:xfrm>
              <a:off x="976363" y="3910527"/>
              <a:ext cx="5942658" cy="553983"/>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None/>
              </a:pPr>
              <a:r>
                <a:rPr lang="en-US" sz="2000" b="0" i="0" u="none" strike="noStrike" cap="none" dirty="0">
                  <a:solidFill>
                    <a:schemeClr val="dk1"/>
                  </a:solidFill>
                  <a:latin typeface="Century Gothic"/>
                  <a:ea typeface="Century Gothic"/>
                  <a:cs typeface="Century Gothic"/>
                  <a:sym typeface="Century Gothic"/>
                </a:rPr>
                <a:t>Create &amp; assign review tasks</a:t>
              </a:r>
              <a:endParaRPr sz="700" b="0" i="0" u="none" strike="noStrike" cap="none" dirty="0">
                <a:solidFill>
                  <a:schemeClr val="dk1"/>
                </a:solidFill>
                <a:latin typeface="Arial"/>
                <a:ea typeface="Arial"/>
                <a:cs typeface="Arial"/>
                <a:sym typeface="Arial"/>
              </a:endParaRPr>
            </a:p>
          </p:txBody>
        </p:sp>
      </p:grpSp>
      <p:grpSp>
        <p:nvGrpSpPr>
          <p:cNvPr id="110" name="Google Shape;110;p2"/>
          <p:cNvGrpSpPr/>
          <p:nvPr/>
        </p:nvGrpSpPr>
        <p:grpSpPr>
          <a:xfrm>
            <a:off x="727710" y="4358389"/>
            <a:ext cx="9662453" cy="1065779"/>
            <a:chOff x="727710" y="4358389"/>
            <a:chExt cx="9662453" cy="1065779"/>
          </a:xfrm>
        </p:grpSpPr>
        <p:grpSp>
          <p:nvGrpSpPr>
            <p:cNvPr id="111" name="Google Shape;111;p2"/>
            <p:cNvGrpSpPr/>
            <p:nvPr/>
          </p:nvGrpSpPr>
          <p:grpSpPr>
            <a:xfrm>
              <a:off x="727710" y="4358389"/>
              <a:ext cx="2834689" cy="1065779"/>
              <a:chOff x="970239" y="3314529"/>
              <a:chExt cx="4252034" cy="1598669"/>
            </a:xfrm>
          </p:grpSpPr>
          <p:sp>
            <p:nvSpPr>
              <p:cNvPr id="112" name="Google Shape;112;p2"/>
              <p:cNvSpPr txBox="1"/>
              <p:nvPr/>
            </p:nvSpPr>
            <p:spPr>
              <a:xfrm>
                <a:off x="970239" y="3314529"/>
                <a:ext cx="1783350" cy="523220"/>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1867"/>
                  <a:buFont typeface="Arial"/>
                  <a:buNone/>
                </a:pPr>
                <a:r>
                  <a:rPr lang="en-US" sz="1867" b="1" i="0" u="none" strike="noStrike" cap="none">
                    <a:solidFill>
                      <a:srgbClr val="D34D65"/>
                    </a:solidFill>
                    <a:latin typeface="Century Gothic"/>
                    <a:ea typeface="Century Gothic"/>
                    <a:cs typeface="Century Gothic"/>
                    <a:sym typeface="Century Gothic"/>
                  </a:rPr>
                  <a:t>04</a:t>
                </a:r>
                <a:endParaRPr sz="1867" b="1" i="0" u="none" strike="noStrike" cap="none">
                  <a:solidFill>
                    <a:srgbClr val="D34D65"/>
                  </a:solidFill>
                  <a:latin typeface="Arial"/>
                  <a:ea typeface="Arial"/>
                  <a:cs typeface="Arial"/>
                  <a:sym typeface="Arial"/>
                </a:endParaRPr>
              </a:p>
            </p:txBody>
          </p:sp>
          <p:sp>
            <p:nvSpPr>
              <p:cNvPr id="113" name="Google Shape;113;p2"/>
              <p:cNvSpPr txBox="1"/>
              <p:nvPr/>
            </p:nvSpPr>
            <p:spPr>
              <a:xfrm>
                <a:off x="1004241" y="3836187"/>
                <a:ext cx="4218032" cy="1077011"/>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2133"/>
                  <a:buFont typeface="Arial"/>
                  <a:buNone/>
                </a:pPr>
                <a:r>
                  <a:rPr lang="en-US" sz="2133" dirty="0">
                    <a:latin typeface="Century Gothic"/>
                    <a:sym typeface="Century Gothic"/>
                  </a:rPr>
                  <a:t>Multiple maps review</a:t>
                </a:r>
                <a:endParaRPr sz="800" b="0" i="0" u="none" strike="noStrike" cap="none" dirty="0">
                  <a:solidFill>
                    <a:srgbClr val="000000"/>
                  </a:solidFill>
                  <a:latin typeface="Arial"/>
                  <a:ea typeface="Arial"/>
                  <a:cs typeface="Arial"/>
                  <a:sym typeface="Arial"/>
                </a:endParaRPr>
              </a:p>
            </p:txBody>
          </p:sp>
        </p:grpSp>
        <p:grpSp>
          <p:nvGrpSpPr>
            <p:cNvPr id="114" name="Google Shape;114;p2"/>
            <p:cNvGrpSpPr/>
            <p:nvPr/>
          </p:nvGrpSpPr>
          <p:grpSpPr>
            <a:xfrm>
              <a:off x="3612425" y="4358389"/>
              <a:ext cx="2858879" cy="737549"/>
              <a:chOff x="970239" y="3314529"/>
              <a:chExt cx="4252034" cy="1106324"/>
            </a:xfrm>
          </p:grpSpPr>
          <p:sp>
            <p:nvSpPr>
              <p:cNvPr id="115" name="Google Shape;115;p2"/>
              <p:cNvSpPr txBox="1"/>
              <p:nvPr/>
            </p:nvSpPr>
            <p:spPr>
              <a:xfrm>
                <a:off x="970239" y="3314529"/>
                <a:ext cx="1783350" cy="523220"/>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1867"/>
                  <a:buFont typeface="Arial"/>
                  <a:buNone/>
                </a:pPr>
                <a:r>
                  <a:rPr lang="en-US" sz="1867" b="1" i="0" u="none" strike="noStrike" cap="none">
                    <a:solidFill>
                      <a:srgbClr val="D34D65"/>
                    </a:solidFill>
                    <a:latin typeface="Century Gothic"/>
                    <a:ea typeface="Century Gothic"/>
                    <a:cs typeface="Century Gothic"/>
                    <a:sym typeface="Century Gothic"/>
                  </a:rPr>
                  <a:t>05</a:t>
                </a:r>
                <a:endParaRPr sz="1867" b="1" i="0" u="none" strike="noStrike" cap="none">
                  <a:solidFill>
                    <a:srgbClr val="D34D65"/>
                  </a:solidFill>
                  <a:latin typeface="Arial"/>
                  <a:ea typeface="Arial"/>
                  <a:cs typeface="Arial"/>
                  <a:sym typeface="Arial"/>
                </a:endParaRPr>
              </a:p>
            </p:txBody>
          </p:sp>
          <p:sp>
            <p:nvSpPr>
              <p:cNvPr id="116" name="Google Shape;116;p2"/>
              <p:cNvSpPr txBox="1"/>
              <p:nvPr/>
            </p:nvSpPr>
            <p:spPr>
              <a:xfrm>
                <a:off x="1004240" y="3836187"/>
                <a:ext cx="4218033" cy="584666"/>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2133"/>
                  <a:buFont typeface="Arial"/>
                  <a:buNone/>
                </a:pPr>
                <a:r>
                  <a:rPr lang="en-US" sz="2133" dirty="0">
                    <a:solidFill>
                      <a:schemeClr val="dk1"/>
                    </a:solidFill>
                    <a:latin typeface="Century Gothic"/>
                    <a:sym typeface="Century Gothic"/>
                  </a:rPr>
                  <a:t>Notifications &amp; inbox</a:t>
                </a:r>
                <a:endParaRPr sz="800" b="0" i="0" u="none" strike="noStrike" cap="none" dirty="0">
                  <a:solidFill>
                    <a:schemeClr val="dk1"/>
                  </a:solidFill>
                  <a:latin typeface="Arial"/>
                  <a:ea typeface="Arial"/>
                  <a:cs typeface="Arial"/>
                  <a:sym typeface="Arial"/>
                </a:endParaRPr>
              </a:p>
            </p:txBody>
          </p:sp>
        </p:grpSp>
        <p:grpSp>
          <p:nvGrpSpPr>
            <p:cNvPr id="117" name="Google Shape;117;p2"/>
            <p:cNvGrpSpPr/>
            <p:nvPr/>
          </p:nvGrpSpPr>
          <p:grpSpPr>
            <a:xfrm>
              <a:off x="7525236" y="4358389"/>
              <a:ext cx="2864927" cy="1065779"/>
              <a:chOff x="970239" y="3314529"/>
              <a:chExt cx="4252034" cy="1598669"/>
            </a:xfrm>
          </p:grpSpPr>
          <p:sp>
            <p:nvSpPr>
              <p:cNvPr id="118" name="Google Shape;118;p2"/>
              <p:cNvSpPr txBox="1"/>
              <p:nvPr/>
            </p:nvSpPr>
            <p:spPr>
              <a:xfrm>
                <a:off x="970239" y="3314529"/>
                <a:ext cx="1783350" cy="523220"/>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1867"/>
                  <a:buFont typeface="Arial"/>
                  <a:buNone/>
                </a:pPr>
                <a:r>
                  <a:rPr lang="en-US" sz="1867" b="1" i="0" u="none" strike="noStrike" cap="none">
                    <a:solidFill>
                      <a:srgbClr val="D34D65"/>
                    </a:solidFill>
                    <a:latin typeface="Century Gothic"/>
                    <a:ea typeface="Century Gothic"/>
                    <a:cs typeface="Century Gothic"/>
                    <a:sym typeface="Century Gothic"/>
                  </a:rPr>
                  <a:t>06</a:t>
                </a:r>
                <a:endParaRPr sz="1867" b="0" i="0" u="none" strike="noStrike" cap="none">
                  <a:solidFill>
                    <a:srgbClr val="D34D65"/>
                  </a:solidFill>
                  <a:latin typeface="Arial"/>
                  <a:ea typeface="Arial"/>
                  <a:cs typeface="Arial"/>
                  <a:sym typeface="Arial"/>
                </a:endParaRPr>
              </a:p>
            </p:txBody>
          </p:sp>
          <p:sp>
            <p:nvSpPr>
              <p:cNvPr id="119" name="Google Shape;119;p2"/>
              <p:cNvSpPr txBox="1"/>
              <p:nvPr/>
            </p:nvSpPr>
            <p:spPr>
              <a:xfrm>
                <a:off x="1004241" y="3836187"/>
                <a:ext cx="4218032" cy="1077011"/>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2133"/>
                  <a:buFont typeface="Arial"/>
                  <a:buNone/>
                </a:pPr>
                <a:r>
                  <a:rPr lang="en-US" sz="2133" dirty="0">
                    <a:solidFill>
                      <a:schemeClr val="dk1"/>
                    </a:solidFill>
                    <a:latin typeface="Century Gothic"/>
                    <a:sym typeface="Century Gothic"/>
                  </a:rPr>
                  <a:t>Export for external review</a:t>
                </a:r>
                <a:endParaRPr sz="800" b="0" i="0" u="none" strike="noStrike" cap="none" dirty="0">
                  <a:solidFill>
                    <a:schemeClr val="dk1"/>
                  </a:solidFill>
                  <a:latin typeface="Arial"/>
                  <a:ea typeface="Arial"/>
                  <a:cs typeface="Arial"/>
                  <a:sym typeface="Arial"/>
                </a:endParaRPr>
              </a:p>
            </p:txBody>
          </p:sp>
        </p:grpSp>
      </p:grpSp>
      <p:cxnSp>
        <p:nvCxnSpPr>
          <p:cNvPr id="120" name="Google Shape;120;p2"/>
          <p:cNvCxnSpPr/>
          <p:nvPr/>
        </p:nvCxnSpPr>
        <p:spPr>
          <a:xfrm rot="10800000" flipH="1">
            <a:off x="726189" y="1443535"/>
            <a:ext cx="4652743" cy="2406"/>
          </a:xfrm>
          <a:prstGeom prst="straightConnector1">
            <a:avLst/>
          </a:prstGeom>
          <a:noFill/>
          <a:ln w="19050" cap="flat" cmpd="sng">
            <a:solidFill>
              <a:srgbClr val="AEAEAE"/>
            </a:solidFill>
            <a:prstDash val="solid"/>
            <a:miter lim="800000"/>
            <a:headEnd type="none" w="sm" len="sm"/>
            <a:tailEnd type="none" w="sm" len="sm"/>
          </a:ln>
        </p:spPr>
      </p:cxnSp>
      <p:pic>
        <p:nvPicPr>
          <p:cNvPr id="121" name="Google Shape;121;p2"/>
          <p:cNvPicPr preferRelativeResize="0"/>
          <p:nvPr/>
        </p:nvPicPr>
        <p:blipFill rotWithShape="1">
          <a:blip r:embed="rId3">
            <a:alphaModFix/>
          </a:blip>
          <a:srcRect r="18416" b="9092"/>
          <a:stretch/>
        </p:blipFill>
        <p:spPr>
          <a:xfrm>
            <a:off x="2353" y="-1857"/>
            <a:ext cx="12188199" cy="756387"/>
          </a:xfrm>
          <a:prstGeom prst="rect">
            <a:avLst/>
          </a:prstGeom>
          <a:noFill/>
          <a:ln>
            <a:noFill/>
          </a:ln>
        </p:spPr>
      </p:pic>
      <p:pic>
        <p:nvPicPr>
          <p:cNvPr id="122" name="Google Shape;122;p2"/>
          <p:cNvPicPr preferRelativeResize="0"/>
          <p:nvPr/>
        </p:nvPicPr>
        <p:blipFill rotWithShape="1">
          <a:blip r:embed="rId4">
            <a:alphaModFix/>
          </a:blip>
          <a:srcRect/>
          <a:stretch/>
        </p:blipFill>
        <p:spPr>
          <a:xfrm>
            <a:off x="10320011" y="255517"/>
            <a:ext cx="1465479" cy="236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pic>
        <p:nvPicPr>
          <p:cNvPr id="127" name="Google Shape;127;p3" descr="A purple and blue gradient  AI-generated content may be incorrect."/>
          <p:cNvPicPr preferRelativeResize="0"/>
          <p:nvPr/>
        </p:nvPicPr>
        <p:blipFill rotWithShape="1">
          <a:blip r:embed="rId3">
            <a:alphaModFix/>
          </a:blip>
          <a:srcRect r="18416" b="9092"/>
          <a:stretch/>
        </p:blipFill>
        <p:spPr>
          <a:xfrm>
            <a:off x="2353" y="-1857"/>
            <a:ext cx="12188199" cy="756387"/>
          </a:xfrm>
          <a:prstGeom prst="rect">
            <a:avLst/>
          </a:prstGeom>
          <a:noFill/>
          <a:ln>
            <a:noFill/>
          </a:ln>
        </p:spPr>
      </p:pic>
      <p:sp>
        <p:nvSpPr>
          <p:cNvPr id="128" name="Google Shape;128;p3"/>
          <p:cNvSpPr/>
          <p:nvPr/>
        </p:nvSpPr>
        <p:spPr>
          <a:xfrm>
            <a:off x="660385" y="1342315"/>
            <a:ext cx="10833599" cy="4921008"/>
          </a:xfrm>
          <a:prstGeom prst="round2SameRect">
            <a:avLst>
              <a:gd name="adj1" fmla="val 16667"/>
              <a:gd name="adj2" fmla="val 0"/>
            </a:avLst>
          </a:prstGeom>
          <a:solidFill>
            <a:srgbClr val="FAFDFF"/>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a:solidFill>
                <a:schemeClr val="dk1"/>
              </a:solidFill>
              <a:latin typeface="Arial"/>
              <a:ea typeface="Arial"/>
              <a:cs typeface="Arial"/>
              <a:sym typeface="Arial"/>
            </a:endParaRPr>
          </a:p>
        </p:txBody>
      </p:sp>
      <p:pic>
        <p:nvPicPr>
          <p:cNvPr id="129" name="Google Shape;129;p3"/>
          <p:cNvPicPr preferRelativeResize="0"/>
          <p:nvPr/>
        </p:nvPicPr>
        <p:blipFill rotWithShape="1">
          <a:blip r:embed="rId4">
            <a:alphaModFix/>
          </a:blip>
          <a:srcRect/>
          <a:stretch/>
        </p:blipFill>
        <p:spPr>
          <a:xfrm>
            <a:off x="10320011" y="255517"/>
            <a:ext cx="1465479" cy="236700"/>
          </a:xfrm>
          <a:prstGeom prst="rect">
            <a:avLst/>
          </a:prstGeom>
          <a:noFill/>
          <a:ln>
            <a:noFill/>
          </a:ln>
        </p:spPr>
      </p:pic>
      <p:sp>
        <p:nvSpPr>
          <p:cNvPr id="130" name="Google Shape;130;p3"/>
          <p:cNvSpPr txBox="1"/>
          <p:nvPr/>
        </p:nvSpPr>
        <p:spPr>
          <a:xfrm>
            <a:off x="1210718" y="3747825"/>
            <a:ext cx="9734400" cy="1246800"/>
          </a:xfrm>
          <a:prstGeom prst="rect">
            <a:avLst/>
          </a:prstGeom>
          <a:noFill/>
          <a:ln>
            <a:noFill/>
          </a:ln>
        </p:spPr>
        <p:txBody>
          <a:bodyPr spcFirstLastPara="1" wrap="square" lIns="60950" tIns="30475" rIns="60950" bIns="30475" anchor="ctr" anchorCtr="0">
            <a:spAutoFit/>
          </a:bodyPr>
          <a:lstStyle/>
          <a:p>
            <a:pPr marL="0" marR="0" lvl="0" indent="0" algn="ctr" rtl="0">
              <a:lnSpc>
                <a:spcPct val="150000"/>
              </a:lnSpc>
              <a:spcBef>
                <a:spcPts val="0"/>
              </a:spcBef>
              <a:spcAft>
                <a:spcPts val="0"/>
              </a:spcAft>
              <a:buClr>
                <a:srgbClr val="000000"/>
              </a:buClr>
              <a:buSzPts val="1400"/>
              <a:buFont typeface="Arial"/>
              <a:buNone/>
            </a:pPr>
            <a:r>
              <a:rPr lang="en-US" sz="1400" b="0" i="0" u="none" strike="noStrike" cap="none">
                <a:solidFill>
                  <a:schemeClr val="dk1"/>
                </a:solidFill>
                <a:latin typeface="Century Gothic"/>
                <a:ea typeface="Century Gothic"/>
                <a:cs typeface="Century Gothic"/>
                <a:sym typeface="Century Gothic"/>
              </a:rPr>
              <a:t>A Principal Consultant working at the intersection of content strategy, intelligent content architecture, and enterprise technology, with expertise in DITA and Adobe Experience Manager (AEM) Guides. I help organizations rethink and optimize how they create, manage, and deliver structured content by aligning business goals with scalable solutions.</a:t>
            </a:r>
            <a:endParaRPr sz="1200" b="0" i="0" u="none" strike="noStrike" cap="none">
              <a:solidFill>
                <a:schemeClr val="dk1"/>
              </a:solidFill>
              <a:latin typeface="Arial"/>
              <a:ea typeface="Arial"/>
              <a:cs typeface="Arial"/>
              <a:sym typeface="Arial"/>
            </a:endParaRPr>
          </a:p>
        </p:txBody>
      </p:sp>
      <p:sp>
        <p:nvSpPr>
          <p:cNvPr id="131" name="Google Shape;131;p3"/>
          <p:cNvSpPr txBox="1"/>
          <p:nvPr/>
        </p:nvSpPr>
        <p:spPr>
          <a:xfrm>
            <a:off x="3684195" y="2256101"/>
            <a:ext cx="4789500" cy="677400"/>
          </a:xfrm>
          <a:prstGeom prst="rect">
            <a:avLst/>
          </a:prstGeom>
          <a:noFill/>
          <a:ln>
            <a:noFill/>
          </a:ln>
        </p:spPr>
        <p:txBody>
          <a:bodyPr spcFirstLastPara="1" wrap="square" lIns="60950" tIns="30475" rIns="60950" bIns="30475" anchor="ctr"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000" b="0" i="0" u="none" strike="noStrike" cap="none">
                <a:solidFill>
                  <a:srgbClr val="D34C65"/>
                </a:solidFill>
                <a:latin typeface="Century Gothic"/>
                <a:ea typeface="Century Gothic"/>
                <a:cs typeface="Century Gothic"/>
                <a:sym typeface="Century Gothic"/>
              </a:rPr>
              <a:t>Aravind Anand</a:t>
            </a:r>
            <a:endParaRPr sz="1200" b="0" i="0" u="none" strike="noStrike" cap="none">
              <a:solidFill>
                <a:schemeClr val="dk1"/>
              </a:solidFill>
              <a:latin typeface="Arial"/>
              <a:ea typeface="Arial"/>
              <a:cs typeface="Arial"/>
              <a:sym typeface="Arial"/>
            </a:endParaRPr>
          </a:p>
        </p:txBody>
      </p:sp>
      <p:sp>
        <p:nvSpPr>
          <p:cNvPr id="132" name="Google Shape;132;p3"/>
          <p:cNvSpPr txBox="1"/>
          <p:nvPr/>
        </p:nvSpPr>
        <p:spPr>
          <a:xfrm>
            <a:off x="3774194" y="3154363"/>
            <a:ext cx="4605600" cy="369300"/>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Century Gothic"/>
                <a:ea typeface="Century Gothic"/>
                <a:cs typeface="Century Gothic"/>
                <a:sym typeface="Century Gothic"/>
              </a:rPr>
              <a:t>20+ Years AEM Industry experience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23"/>
          <p:cNvPicPr preferRelativeResize="0"/>
          <p:nvPr/>
        </p:nvPicPr>
        <p:blipFill rotWithShape="1">
          <a:blip r:embed="rId3">
            <a:alphaModFix/>
          </a:blip>
          <a:srcRect/>
          <a:stretch/>
        </p:blipFill>
        <p:spPr>
          <a:xfrm>
            <a:off x="10318477" y="6222915"/>
            <a:ext cx="1449278" cy="234908"/>
          </a:xfrm>
          <a:prstGeom prst="rect">
            <a:avLst/>
          </a:prstGeom>
          <a:noFill/>
          <a:ln>
            <a:noFill/>
          </a:ln>
        </p:spPr>
      </p:pic>
      <p:pic>
        <p:nvPicPr>
          <p:cNvPr id="138" name="Google Shape;138;p23"/>
          <p:cNvPicPr preferRelativeResize="0"/>
          <p:nvPr/>
        </p:nvPicPr>
        <p:blipFill rotWithShape="1">
          <a:blip r:embed="rId4">
            <a:alphaModFix/>
          </a:blip>
          <a:srcRect/>
          <a:stretch/>
        </p:blipFill>
        <p:spPr>
          <a:xfrm>
            <a:off x="3247" y="0"/>
            <a:ext cx="104630" cy="6858000"/>
          </a:xfrm>
          <a:prstGeom prst="rect">
            <a:avLst/>
          </a:prstGeom>
          <a:noFill/>
          <a:ln>
            <a:noFill/>
          </a:ln>
        </p:spPr>
      </p:pic>
      <p:sp>
        <p:nvSpPr>
          <p:cNvPr id="139" name="Google Shape;139;p23"/>
          <p:cNvSpPr txBox="1"/>
          <p:nvPr/>
        </p:nvSpPr>
        <p:spPr>
          <a:xfrm>
            <a:off x="507987" y="422082"/>
            <a:ext cx="4789500" cy="1374853"/>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4267"/>
              <a:buFont typeface="Arial"/>
              <a:buNone/>
            </a:pPr>
            <a:r>
              <a:rPr lang="en-US" sz="4267" b="0" i="0" u="none" strike="noStrike" cap="none" dirty="0">
                <a:solidFill>
                  <a:schemeClr val="dk1"/>
                </a:solidFill>
                <a:latin typeface="Century Gothic"/>
                <a:ea typeface="Century Gothic"/>
                <a:cs typeface="Century Gothic"/>
                <a:sym typeface="Century Gothic"/>
              </a:rPr>
              <a:t>Introduction to </a:t>
            </a:r>
            <a:r>
              <a:rPr lang="en-US" sz="4267" dirty="0">
                <a:solidFill>
                  <a:schemeClr val="dk1"/>
                </a:solidFill>
                <a:latin typeface="Century Gothic"/>
                <a:ea typeface="Century Gothic"/>
                <a:cs typeface="Century Gothic"/>
                <a:sym typeface="Century Gothic"/>
              </a:rPr>
              <a:t>Review</a:t>
            </a:r>
            <a:endParaRPr dirty="0"/>
          </a:p>
        </p:txBody>
      </p:sp>
      <p:cxnSp>
        <p:nvCxnSpPr>
          <p:cNvPr id="140" name="Google Shape;140;p23"/>
          <p:cNvCxnSpPr/>
          <p:nvPr/>
        </p:nvCxnSpPr>
        <p:spPr>
          <a:xfrm rot="10800000" flipH="1">
            <a:off x="572297" y="422082"/>
            <a:ext cx="3232948" cy="2406"/>
          </a:xfrm>
          <a:prstGeom prst="straightConnector1">
            <a:avLst/>
          </a:prstGeom>
          <a:noFill/>
          <a:ln w="19050" cap="flat" cmpd="sng">
            <a:solidFill>
              <a:srgbClr val="AEAEAE"/>
            </a:solidFill>
            <a:prstDash val="solid"/>
            <a:round/>
            <a:headEnd type="none" w="sm" len="sm"/>
            <a:tailEnd type="none" w="sm" len="sm"/>
          </a:ln>
        </p:spPr>
      </p:cxnSp>
      <p:sp>
        <p:nvSpPr>
          <p:cNvPr id="141" name="Google Shape;141;p23"/>
          <p:cNvSpPr txBox="1"/>
          <p:nvPr/>
        </p:nvSpPr>
        <p:spPr>
          <a:xfrm>
            <a:off x="507987" y="2106070"/>
            <a:ext cx="11259768" cy="3360910"/>
          </a:xfrm>
          <a:prstGeom prst="rect">
            <a:avLst/>
          </a:prstGeom>
          <a:noFill/>
          <a:ln>
            <a:noFill/>
          </a:ln>
        </p:spPr>
        <p:txBody>
          <a:bodyPr spcFirstLastPara="1" wrap="square" lIns="60950" tIns="30475" rIns="60950" bIns="30475" anchor="t" anchorCtr="0">
            <a:spAutoFit/>
          </a:bodyPr>
          <a:lstStyle/>
          <a:p>
            <a:r>
              <a:rPr lang="en-US" dirty="0"/>
              <a:t>Some of the main features offered by Adobe Experience Manager Guides to the </a:t>
            </a:r>
            <a:r>
              <a:rPr lang="en-US" i="1" dirty="0"/>
              <a:t>initiators (or authors)</a:t>
            </a:r>
            <a:r>
              <a:rPr lang="en-US" dirty="0"/>
              <a:t> are:</a:t>
            </a:r>
            <a:br>
              <a:rPr lang="en-US" dirty="0"/>
            </a:br>
            <a:endParaRPr lang="en-US" dirty="0"/>
          </a:p>
          <a:p>
            <a:pPr marL="285750" indent="-285750">
              <a:buFont typeface="Arial" panose="020B0604020202020204" pitchFamily="34" charset="0"/>
              <a:buChar char="•"/>
            </a:pPr>
            <a:r>
              <a:rPr lang="en-US" dirty="0"/>
              <a:t>Create a DITA project for the review workflow.</a:t>
            </a:r>
          </a:p>
          <a:p>
            <a:pPr marL="285750" indent="-285750">
              <a:buFont typeface="Arial" panose="020B0604020202020204" pitchFamily="34" charset="0"/>
              <a:buChar char="•"/>
            </a:pPr>
            <a:r>
              <a:rPr lang="en-US" dirty="0"/>
              <a:t>Send one or more topics for review in a single review task.</a:t>
            </a:r>
          </a:p>
          <a:p>
            <a:pPr marL="285750" indent="-285750">
              <a:buFont typeface="Arial" panose="020B0604020202020204" pitchFamily="34" charset="0"/>
              <a:buChar char="•"/>
            </a:pPr>
            <a:r>
              <a:rPr lang="en-US" dirty="0"/>
              <a:t>Send a topic for review in multiple review tasks.</a:t>
            </a:r>
          </a:p>
          <a:p>
            <a:pPr marL="285750" indent="-285750">
              <a:buFont typeface="Arial" panose="020B0604020202020204" pitchFamily="34" charset="0"/>
              <a:buChar char="•"/>
            </a:pPr>
            <a:r>
              <a:rPr lang="en-US" dirty="0"/>
              <a:t>Create a review task by selecting a DITA map or topic based on their latest version, version on date, or a label (for topics) and Baseline (for map).</a:t>
            </a:r>
          </a:p>
          <a:p>
            <a:pPr marL="285750" indent="-285750">
              <a:buFont typeface="Arial" panose="020B0604020202020204" pitchFamily="34" charset="0"/>
              <a:buChar char="•"/>
            </a:pPr>
            <a:r>
              <a:rPr lang="en-US" dirty="0"/>
              <a:t>Share an updated version of the topic for review from the Review Dashboard.</a:t>
            </a:r>
          </a:p>
          <a:p>
            <a:pPr marL="285750" indent="-285750">
              <a:buFont typeface="Arial" panose="020B0604020202020204" pitchFamily="34" charset="0"/>
              <a:buChar char="•"/>
            </a:pPr>
            <a:r>
              <a:rPr lang="en-US" dirty="0"/>
              <a:t>Access comments shared on different versions of topic.</a:t>
            </a:r>
          </a:p>
          <a:p>
            <a:pPr marL="285750" indent="-285750">
              <a:buFont typeface="Arial" panose="020B0604020202020204" pitchFamily="34" charset="0"/>
              <a:buChar char="•"/>
            </a:pPr>
            <a:r>
              <a:rPr lang="en-US" dirty="0"/>
              <a:t>Easily tag users of specific review task in comments or replies for quick action and follow-ups. Tagged users are immediately notified through both AEM and Email notification.</a:t>
            </a:r>
          </a:p>
          <a:p>
            <a:pPr marL="285750" indent="-285750">
              <a:buFont typeface="Arial" panose="020B0604020202020204" pitchFamily="34" charset="0"/>
              <a:buChar char="•"/>
            </a:pPr>
            <a:r>
              <a:rPr lang="en-US" dirty="0"/>
              <a:t>Group and filter comments based on version of topic.</a:t>
            </a:r>
          </a:p>
          <a:p>
            <a:pPr marL="285750" indent="-285750">
              <a:buFont typeface="Arial" panose="020B0604020202020204" pitchFamily="34" charset="0"/>
              <a:buChar char="•"/>
            </a:pPr>
            <a:r>
              <a:rPr lang="en-US" dirty="0"/>
              <a:t>View side-by-side differences between different versions of topics shared for review.</a:t>
            </a:r>
          </a:p>
          <a:p>
            <a:pPr marL="285750" indent="-285750">
              <a:buFont typeface="Arial" panose="020B0604020202020204" pitchFamily="34" charset="0"/>
              <a:buChar char="•"/>
            </a:pPr>
            <a:r>
              <a:rPr lang="en-US" dirty="0"/>
              <a:t>Automatically import (deleted or inserted) comments into the version of topic that was shared for review.</a:t>
            </a:r>
          </a:p>
          <a:p>
            <a:pPr lvl="0">
              <a:lnSpc>
                <a:spcPct val="115000"/>
              </a:lnSpc>
              <a:buSzPts val="1600"/>
            </a:pPr>
            <a:endParaRPr sz="1600" b="0" i="0" u="none" strike="noStrike" cap="none" dirty="0">
              <a:solidFill>
                <a:schemeClr val="dk1"/>
              </a:solidFill>
              <a:latin typeface="Century Gothic" panose="020B0502020202020204" pitchFamily="34" charset="0"/>
              <a:ea typeface="Century Gothic"/>
              <a:cs typeface="Century Gothic"/>
              <a:sym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25467D78-FD0F-6A87-2888-F555D5FEB3DF}"/>
            </a:ext>
          </a:extLst>
        </p:cNvPr>
        <p:cNvGrpSpPr/>
        <p:nvPr/>
      </p:nvGrpSpPr>
      <p:grpSpPr>
        <a:xfrm>
          <a:off x="0" y="0"/>
          <a:ext cx="0" cy="0"/>
          <a:chOff x="0" y="0"/>
          <a:chExt cx="0" cy="0"/>
        </a:xfrm>
      </p:grpSpPr>
      <p:pic>
        <p:nvPicPr>
          <p:cNvPr id="137" name="Google Shape;137;p23">
            <a:extLst>
              <a:ext uri="{FF2B5EF4-FFF2-40B4-BE49-F238E27FC236}">
                <a16:creationId xmlns:a16="http://schemas.microsoft.com/office/drawing/2014/main" id="{8035BB1E-0F25-1214-6ACE-DE65D232E286}"/>
              </a:ext>
            </a:extLst>
          </p:cNvPr>
          <p:cNvPicPr preferRelativeResize="0"/>
          <p:nvPr/>
        </p:nvPicPr>
        <p:blipFill rotWithShape="1">
          <a:blip r:embed="rId3">
            <a:alphaModFix/>
          </a:blip>
          <a:srcRect/>
          <a:stretch/>
        </p:blipFill>
        <p:spPr>
          <a:xfrm>
            <a:off x="10318477" y="6222915"/>
            <a:ext cx="1449278" cy="234908"/>
          </a:xfrm>
          <a:prstGeom prst="rect">
            <a:avLst/>
          </a:prstGeom>
          <a:noFill/>
          <a:ln>
            <a:noFill/>
          </a:ln>
        </p:spPr>
      </p:pic>
      <p:pic>
        <p:nvPicPr>
          <p:cNvPr id="138" name="Google Shape;138;p23">
            <a:extLst>
              <a:ext uri="{FF2B5EF4-FFF2-40B4-BE49-F238E27FC236}">
                <a16:creationId xmlns:a16="http://schemas.microsoft.com/office/drawing/2014/main" id="{E561AFB7-1459-37C2-0467-25D255DF4645}"/>
              </a:ext>
            </a:extLst>
          </p:cNvPr>
          <p:cNvPicPr preferRelativeResize="0"/>
          <p:nvPr/>
        </p:nvPicPr>
        <p:blipFill rotWithShape="1">
          <a:blip r:embed="rId4">
            <a:alphaModFix/>
          </a:blip>
          <a:srcRect/>
          <a:stretch/>
        </p:blipFill>
        <p:spPr>
          <a:xfrm>
            <a:off x="3247" y="0"/>
            <a:ext cx="104630" cy="6858000"/>
          </a:xfrm>
          <a:prstGeom prst="rect">
            <a:avLst/>
          </a:prstGeom>
          <a:noFill/>
          <a:ln>
            <a:noFill/>
          </a:ln>
        </p:spPr>
      </p:pic>
      <p:sp>
        <p:nvSpPr>
          <p:cNvPr id="139" name="Google Shape;139;p23">
            <a:extLst>
              <a:ext uri="{FF2B5EF4-FFF2-40B4-BE49-F238E27FC236}">
                <a16:creationId xmlns:a16="http://schemas.microsoft.com/office/drawing/2014/main" id="{67375760-0C0A-2023-EB8D-63C609D4B70F}"/>
              </a:ext>
            </a:extLst>
          </p:cNvPr>
          <p:cNvSpPr txBox="1"/>
          <p:nvPr/>
        </p:nvSpPr>
        <p:spPr>
          <a:xfrm>
            <a:off x="507987" y="422082"/>
            <a:ext cx="4789500" cy="1374853"/>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4267"/>
              <a:buFont typeface="Arial"/>
              <a:buNone/>
            </a:pPr>
            <a:r>
              <a:rPr lang="en-US" sz="4267" b="0" i="0" u="none" strike="noStrike" cap="none" dirty="0">
                <a:solidFill>
                  <a:schemeClr val="dk1"/>
                </a:solidFill>
                <a:latin typeface="Century Gothic"/>
                <a:ea typeface="Century Gothic"/>
                <a:cs typeface="Century Gothic"/>
                <a:sym typeface="Century Gothic"/>
              </a:rPr>
              <a:t>Introduction to </a:t>
            </a:r>
            <a:r>
              <a:rPr lang="en-US" sz="4267" dirty="0">
                <a:solidFill>
                  <a:schemeClr val="dk1"/>
                </a:solidFill>
                <a:latin typeface="Century Gothic"/>
                <a:ea typeface="Century Gothic"/>
                <a:cs typeface="Century Gothic"/>
                <a:sym typeface="Century Gothic"/>
              </a:rPr>
              <a:t>Review</a:t>
            </a:r>
            <a:endParaRPr dirty="0"/>
          </a:p>
        </p:txBody>
      </p:sp>
      <p:cxnSp>
        <p:nvCxnSpPr>
          <p:cNvPr id="140" name="Google Shape;140;p23">
            <a:extLst>
              <a:ext uri="{FF2B5EF4-FFF2-40B4-BE49-F238E27FC236}">
                <a16:creationId xmlns:a16="http://schemas.microsoft.com/office/drawing/2014/main" id="{E3F1E5B3-8286-F916-4BD6-6D12C59A39D8}"/>
              </a:ext>
            </a:extLst>
          </p:cNvPr>
          <p:cNvCxnSpPr/>
          <p:nvPr/>
        </p:nvCxnSpPr>
        <p:spPr>
          <a:xfrm rot="10800000" flipH="1">
            <a:off x="572297" y="422082"/>
            <a:ext cx="3232948" cy="2406"/>
          </a:xfrm>
          <a:prstGeom prst="straightConnector1">
            <a:avLst/>
          </a:prstGeom>
          <a:noFill/>
          <a:ln w="19050" cap="flat" cmpd="sng">
            <a:solidFill>
              <a:srgbClr val="AEAEAE"/>
            </a:solidFill>
            <a:prstDash val="solid"/>
            <a:round/>
            <a:headEnd type="none" w="sm" len="sm"/>
            <a:tailEnd type="none" w="sm" len="sm"/>
          </a:ln>
        </p:spPr>
      </p:cxnSp>
      <p:sp>
        <p:nvSpPr>
          <p:cNvPr id="141" name="Google Shape;141;p23">
            <a:extLst>
              <a:ext uri="{FF2B5EF4-FFF2-40B4-BE49-F238E27FC236}">
                <a16:creationId xmlns:a16="http://schemas.microsoft.com/office/drawing/2014/main" id="{1630C928-C5BD-9581-FFCB-B6D4438A6636}"/>
              </a:ext>
            </a:extLst>
          </p:cNvPr>
          <p:cNvSpPr txBox="1"/>
          <p:nvPr/>
        </p:nvSpPr>
        <p:spPr>
          <a:xfrm>
            <a:off x="572296" y="1910128"/>
            <a:ext cx="11195459" cy="5016748"/>
          </a:xfrm>
          <a:prstGeom prst="rect">
            <a:avLst/>
          </a:prstGeom>
          <a:noFill/>
          <a:ln>
            <a:noFill/>
          </a:ln>
        </p:spPr>
        <p:txBody>
          <a:bodyPr spcFirstLastPara="1" wrap="square" lIns="60950" tIns="30475" rIns="60950" bIns="30475" anchor="t" anchorCtr="0">
            <a:spAutoFit/>
          </a:bodyPr>
          <a:lstStyle/>
          <a:p>
            <a:r>
              <a:rPr lang="en-US" dirty="0"/>
              <a:t>Features available to the </a:t>
            </a:r>
            <a:r>
              <a:rPr lang="en-US" i="1" dirty="0"/>
              <a:t>reviewers</a:t>
            </a:r>
            <a:r>
              <a:rPr lang="en-US" dirty="0"/>
              <a:t>:</a:t>
            </a:r>
            <a:br>
              <a:rPr lang="en-US" dirty="0"/>
            </a:br>
            <a:endParaRPr lang="en-US" dirty="0"/>
          </a:p>
          <a:p>
            <a:pPr marL="285750" indent="-285750">
              <a:buFont typeface="Arial" panose="020B0604020202020204" pitchFamily="34" charset="0"/>
              <a:buChar char="•"/>
            </a:pPr>
            <a:r>
              <a:rPr lang="en-US" dirty="0"/>
              <a:t>Get one composite view of the topics shared for review.</a:t>
            </a:r>
          </a:p>
          <a:p>
            <a:pPr marL="285750" indent="-285750">
              <a:buFont typeface="Arial" panose="020B0604020202020204" pitchFamily="34" charset="0"/>
              <a:buChar char="•"/>
            </a:pPr>
            <a:r>
              <a:rPr lang="en-US" dirty="0"/>
              <a:t>Switch between composite view and individual topic view.</a:t>
            </a:r>
          </a:p>
          <a:p>
            <a:pPr marL="285750" indent="-285750">
              <a:buFont typeface="Arial" panose="020B0604020202020204" pitchFamily="34" charset="0"/>
              <a:buChar char="•"/>
            </a:pPr>
            <a:r>
              <a:rPr lang="en-US" dirty="0"/>
              <a:t>Use the commenting tools, such as text insertion, deletion, highlight, and note/comment to provide their feedback.</a:t>
            </a:r>
          </a:p>
          <a:p>
            <a:pPr marL="285750" indent="-285750">
              <a:buFont typeface="Arial" panose="020B0604020202020204" pitchFamily="34" charset="0"/>
              <a:buChar char="•"/>
            </a:pPr>
            <a:r>
              <a:rPr lang="en-US" dirty="0"/>
              <a:t>Attach one or multiple files to a review comment.</a:t>
            </a:r>
          </a:p>
          <a:p>
            <a:pPr marL="285750" indent="-285750">
              <a:buFont typeface="Arial" panose="020B0604020202020204" pitchFamily="34" charset="0"/>
              <a:buChar char="•"/>
            </a:pPr>
            <a:r>
              <a:rPr lang="en-US" dirty="0"/>
              <a:t>Reply to a comment by tagging users involved in the same review task.</a:t>
            </a:r>
          </a:p>
          <a:p>
            <a:pPr marL="285750" indent="-285750">
              <a:buFont typeface="Arial" panose="020B0604020202020204" pitchFamily="34" charset="0"/>
              <a:buChar char="•"/>
            </a:pPr>
            <a:r>
              <a:rPr lang="en-US" dirty="0"/>
              <a:t>Download attachments from a comment.</a:t>
            </a:r>
          </a:p>
          <a:p>
            <a:pPr marL="285750" indent="-285750">
              <a:buFont typeface="Arial" panose="020B0604020202020204" pitchFamily="34" charset="0"/>
              <a:buChar char="•"/>
            </a:pPr>
            <a:r>
              <a:rPr lang="en-US" dirty="0"/>
              <a:t>Use the Review Panel to add comments or respond to comments from other users.</a:t>
            </a:r>
          </a:p>
          <a:p>
            <a:pPr marL="285750" indent="-285750">
              <a:buFont typeface="Arial" panose="020B0604020202020204" pitchFamily="34" charset="0"/>
              <a:buChar char="•"/>
            </a:pPr>
            <a:r>
              <a:rPr lang="en-US" dirty="0"/>
              <a:t>Easily know the version of topic under review.</a:t>
            </a:r>
          </a:p>
          <a:p>
            <a:pPr marL="285750" indent="-285750">
              <a:buFont typeface="Arial" panose="020B0604020202020204" pitchFamily="34" charset="0"/>
              <a:buChar char="•"/>
            </a:pPr>
            <a:r>
              <a:rPr lang="en-US" dirty="0"/>
              <a:t>Receive a notification when a task is assigned to them for review.</a:t>
            </a:r>
          </a:p>
          <a:p>
            <a:pPr marL="285750" indent="-285750">
              <a:buFont typeface="Arial" panose="020B0604020202020204" pitchFamily="34" charset="0"/>
              <a:buChar char="•"/>
            </a:pPr>
            <a:r>
              <a:rPr lang="en-US" dirty="0"/>
              <a:t>View differences between older and newer version of topic shared for review.</a:t>
            </a:r>
          </a:p>
          <a:p>
            <a:pPr marL="285750" indent="-285750">
              <a:buFont typeface="Arial" panose="020B0604020202020204" pitchFamily="34" charset="0"/>
              <a:buChar char="•"/>
            </a:pPr>
            <a:r>
              <a:rPr lang="en-US" dirty="0"/>
              <a:t>View comments made by other reviewers or replies on comments from author in real time.</a:t>
            </a:r>
          </a:p>
          <a:p>
            <a:pPr marL="285750" indent="-285750">
              <a:buFont typeface="Arial" panose="020B0604020202020204" pitchFamily="34" charset="0"/>
              <a:buChar char="•"/>
            </a:pPr>
            <a:r>
              <a:rPr lang="en-US" dirty="0"/>
              <a:t>Access comments given on older version of topic.</a:t>
            </a:r>
          </a:p>
          <a:p>
            <a:pPr marL="285750" indent="-285750">
              <a:buFont typeface="Arial" panose="020B0604020202020204" pitchFamily="34" charset="0"/>
              <a:buChar char="•"/>
            </a:pPr>
            <a:r>
              <a:rPr lang="en-US" dirty="0"/>
              <a:t>Review topics</a:t>
            </a:r>
          </a:p>
          <a:p>
            <a:pPr marL="285750" indent="-285750">
              <a:buFont typeface="Arial" panose="020B0604020202020204" pitchFamily="34" charset="0"/>
              <a:buChar char="•"/>
            </a:pPr>
            <a:r>
              <a:rPr lang="en-US" dirty="0"/>
              <a:t>Reassign review task using notification</a:t>
            </a:r>
          </a:p>
          <a:p>
            <a:pPr marL="285750" indent="-285750">
              <a:buFont typeface="Arial" panose="020B0604020202020204" pitchFamily="34" charset="0"/>
              <a:buChar char="•"/>
            </a:pPr>
            <a:r>
              <a:rPr lang="en-US" dirty="0"/>
              <a:t>Complete the review task as a Reviewer</a:t>
            </a:r>
          </a:p>
          <a:p>
            <a:pPr marL="285750" indent="-285750">
              <a:buFont typeface="Arial" panose="020B0604020202020204" pitchFamily="34" charset="0"/>
              <a:buChar char="•"/>
            </a:pPr>
            <a:r>
              <a:rPr lang="en-US" dirty="0"/>
              <a:t>Address review comments</a:t>
            </a:r>
          </a:p>
          <a:p>
            <a:pPr marL="285750" indent="-285750">
              <a:buFont typeface="Arial" panose="020B0604020202020204" pitchFamily="34" charset="0"/>
              <a:buChar char="•"/>
            </a:pPr>
            <a:r>
              <a:rPr lang="en-US" dirty="0"/>
              <a:t>Close or request re-review for a review task</a:t>
            </a:r>
          </a:p>
          <a:p>
            <a:pPr marL="285750" indent="-285750">
              <a:buFont typeface="Arial" panose="020B0604020202020204" pitchFamily="34" charset="0"/>
              <a:buChar char="•"/>
            </a:pPr>
            <a:r>
              <a:rPr lang="en-US" dirty="0"/>
              <a:t>Manage review tasks using the Review Dashboard</a:t>
            </a:r>
          </a:p>
          <a:p>
            <a:pPr marL="285750" indent="-285750">
              <a:buFont typeface="Arial" panose="020B0604020202020204" pitchFamily="34" charset="0"/>
              <a:buChar char="•"/>
            </a:pPr>
            <a:r>
              <a:rPr lang="en-US" dirty="0"/>
              <a:t>View a completed review task</a:t>
            </a:r>
          </a:p>
          <a:p>
            <a:pPr marL="285750" indent="-285750">
              <a:buFont typeface="Arial" panose="020B0604020202020204" pitchFamily="34" charset="0"/>
              <a:buChar char="•"/>
            </a:pPr>
            <a:r>
              <a:rPr lang="en-US" dirty="0"/>
              <a:t>Understanding review notifications</a:t>
            </a:r>
            <a:br>
              <a:rPr lang="en-US" dirty="0"/>
            </a:br>
            <a:endParaRPr lang="en-US" dirty="0"/>
          </a:p>
        </p:txBody>
      </p:sp>
    </p:spTree>
    <p:extLst>
      <p:ext uri="{BB962C8B-B14F-4D97-AF65-F5344CB8AC3E}">
        <p14:creationId xmlns:p14="http://schemas.microsoft.com/office/powerpoint/2010/main" val="745672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p24"/>
          <p:cNvPicPr preferRelativeResize="0"/>
          <p:nvPr/>
        </p:nvPicPr>
        <p:blipFill rotWithShape="1">
          <a:blip r:embed="rId3">
            <a:alphaModFix/>
          </a:blip>
          <a:srcRect/>
          <a:stretch/>
        </p:blipFill>
        <p:spPr>
          <a:xfrm>
            <a:off x="10318477" y="6222915"/>
            <a:ext cx="1449278" cy="234908"/>
          </a:xfrm>
          <a:prstGeom prst="rect">
            <a:avLst/>
          </a:prstGeom>
          <a:noFill/>
          <a:ln>
            <a:noFill/>
          </a:ln>
        </p:spPr>
      </p:pic>
      <p:pic>
        <p:nvPicPr>
          <p:cNvPr id="149" name="Google Shape;149;p24"/>
          <p:cNvPicPr preferRelativeResize="0"/>
          <p:nvPr/>
        </p:nvPicPr>
        <p:blipFill rotWithShape="1">
          <a:blip r:embed="rId4">
            <a:alphaModFix/>
          </a:blip>
          <a:srcRect/>
          <a:stretch/>
        </p:blipFill>
        <p:spPr>
          <a:xfrm>
            <a:off x="3247" y="0"/>
            <a:ext cx="104630" cy="6858000"/>
          </a:xfrm>
          <a:prstGeom prst="rect">
            <a:avLst/>
          </a:prstGeom>
          <a:noFill/>
          <a:ln>
            <a:noFill/>
          </a:ln>
        </p:spPr>
      </p:pic>
      <p:sp>
        <p:nvSpPr>
          <p:cNvPr id="150" name="Google Shape;150;p24"/>
          <p:cNvSpPr txBox="1"/>
          <p:nvPr/>
        </p:nvSpPr>
        <p:spPr>
          <a:xfrm>
            <a:off x="423677" y="494899"/>
            <a:ext cx="4789500" cy="553988"/>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None/>
            </a:pPr>
            <a:r>
              <a:rPr lang="en-US" sz="3200" b="0" i="0" u="none" strike="noStrike" cap="none" dirty="0">
                <a:solidFill>
                  <a:schemeClr val="dk1"/>
                </a:solidFill>
                <a:latin typeface="Century Gothic"/>
                <a:ea typeface="Century Gothic"/>
                <a:cs typeface="Century Gothic"/>
                <a:sym typeface="Century Gothic"/>
              </a:rPr>
              <a:t>Content status lifecycle</a:t>
            </a:r>
            <a:endParaRPr dirty="0"/>
          </a:p>
        </p:txBody>
      </p:sp>
      <p:cxnSp>
        <p:nvCxnSpPr>
          <p:cNvPr id="151" name="Google Shape;151;p24"/>
          <p:cNvCxnSpPr/>
          <p:nvPr/>
        </p:nvCxnSpPr>
        <p:spPr>
          <a:xfrm>
            <a:off x="519563" y="422082"/>
            <a:ext cx="3339809" cy="1"/>
          </a:xfrm>
          <a:prstGeom prst="straightConnector1">
            <a:avLst/>
          </a:prstGeom>
          <a:noFill/>
          <a:ln w="19050" cap="flat" cmpd="sng">
            <a:solidFill>
              <a:srgbClr val="AEAEAE"/>
            </a:solidFill>
            <a:prstDash val="solid"/>
            <a:round/>
            <a:headEnd type="none" w="sm" len="sm"/>
            <a:tailEnd type="none" w="sm" len="sm"/>
          </a:ln>
        </p:spPr>
      </p:cxnSp>
      <p:sp>
        <p:nvSpPr>
          <p:cNvPr id="152" name="Google Shape;152;p24"/>
          <p:cNvSpPr txBox="1"/>
          <p:nvPr/>
        </p:nvSpPr>
        <p:spPr>
          <a:xfrm>
            <a:off x="423677" y="2464276"/>
            <a:ext cx="4422600" cy="1785094"/>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None/>
            </a:pPr>
            <a:r>
              <a:rPr lang="en-US" sz="1600" b="1" i="0" u="none" strike="noStrike" cap="none" dirty="0">
                <a:solidFill>
                  <a:schemeClr val="dk1"/>
                </a:solidFill>
                <a:latin typeface="Century Gothic"/>
                <a:ea typeface="Century Gothic"/>
                <a:cs typeface="Century Gothic"/>
                <a:sym typeface="Century Gothic"/>
              </a:rPr>
              <a:t>Draft</a:t>
            </a:r>
            <a:r>
              <a:rPr lang="en-US" sz="1600" b="0" i="0" u="none" strike="noStrike" cap="none" dirty="0">
                <a:solidFill>
                  <a:schemeClr val="dk1"/>
                </a:solidFill>
                <a:latin typeface="Century Gothic"/>
                <a:ea typeface="Century Gothic"/>
                <a:cs typeface="Century Gothic"/>
                <a:sym typeface="Century Gothic"/>
              </a:rPr>
              <a:t> :</a:t>
            </a:r>
            <a:br>
              <a:rPr lang="en-US" sz="1600" b="0" i="0" u="none" strike="noStrike" cap="none" dirty="0">
                <a:solidFill>
                  <a:schemeClr val="dk1"/>
                </a:solidFill>
                <a:latin typeface="Century Gothic"/>
                <a:ea typeface="Century Gothic"/>
                <a:cs typeface="Century Gothic"/>
                <a:sym typeface="Century Gothic"/>
              </a:rPr>
            </a:br>
            <a:br>
              <a:rPr lang="en-US" sz="1600" b="0" i="0" u="none" strike="noStrike" cap="none" dirty="0">
                <a:solidFill>
                  <a:schemeClr val="dk1"/>
                </a:solidFill>
                <a:latin typeface="Century Gothic"/>
                <a:ea typeface="Century Gothic"/>
                <a:cs typeface="Century Gothic"/>
                <a:sym typeface="Century Gothic"/>
              </a:rPr>
            </a:br>
            <a:r>
              <a:rPr lang="en-US" sz="1600" b="1" i="0" u="none" strike="noStrike" cap="none" dirty="0">
                <a:solidFill>
                  <a:schemeClr val="dk1"/>
                </a:solidFill>
                <a:latin typeface="Century Gothic"/>
                <a:ea typeface="Century Gothic"/>
                <a:cs typeface="Century Gothic"/>
                <a:sym typeface="Century Gothic"/>
              </a:rPr>
              <a:t>In-Review</a:t>
            </a:r>
            <a:r>
              <a:rPr lang="en-US" sz="1600" b="0" i="0" u="none" strike="noStrike" cap="none" dirty="0">
                <a:solidFill>
                  <a:schemeClr val="dk1"/>
                </a:solidFill>
                <a:latin typeface="Century Gothic"/>
                <a:ea typeface="Century Gothic"/>
                <a:cs typeface="Century Gothic"/>
                <a:sym typeface="Century Gothic"/>
              </a:rPr>
              <a:t> :</a:t>
            </a:r>
            <a:br>
              <a:rPr lang="en-US" sz="1600" b="0" i="0" u="none" strike="noStrike" cap="none" dirty="0">
                <a:solidFill>
                  <a:schemeClr val="dk1"/>
                </a:solidFill>
                <a:latin typeface="Century Gothic"/>
                <a:ea typeface="Century Gothic"/>
                <a:cs typeface="Century Gothic"/>
                <a:sym typeface="Century Gothic"/>
              </a:rPr>
            </a:br>
            <a:br>
              <a:rPr lang="en-US" sz="1600" b="0" i="0" u="none" strike="noStrike" cap="none" dirty="0">
                <a:solidFill>
                  <a:schemeClr val="dk1"/>
                </a:solidFill>
                <a:latin typeface="Century Gothic"/>
                <a:ea typeface="Century Gothic"/>
                <a:cs typeface="Century Gothic"/>
                <a:sym typeface="Century Gothic"/>
              </a:rPr>
            </a:br>
            <a:r>
              <a:rPr lang="en-US" sz="1600" b="1" i="0" u="none" strike="noStrike" cap="none" dirty="0">
                <a:solidFill>
                  <a:schemeClr val="dk1"/>
                </a:solidFill>
                <a:latin typeface="Century Gothic"/>
                <a:ea typeface="Century Gothic"/>
                <a:cs typeface="Century Gothic"/>
                <a:sym typeface="Century Gothic"/>
              </a:rPr>
              <a:t>Reviewed</a:t>
            </a:r>
            <a:r>
              <a:rPr lang="en-US" sz="1600" b="0" i="0" u="none" strike="noStrike" cap="none" dirty="0">
                <a:solidFill>
                  <a:schemeClr val="dk1"/>
                </a:solidFill>
                <a:latin typeface="Century Gothic"/>
                <a:ea typeface="Century Gothic"/>
                <a:cs typeface="Century Gothic"/>
                <a:sym typeface="Century Gothic"/>
              </a:rPr>
              <a:t> :</a:t>
            </a:r>
            <a:br>
              <a:rPr lang="en-US" sz="1600" b="0" i="0" u="none" strike="noStrike" cap="none" dirty="0">
                <a:solidFill>
                  <a:schemeClr val="dk1"/>
                </a:solidFill>
                <a:latin typeface="Century Gothic"/>
                <a:ea typeface="Century Gothic"/>
                <a:cs typeface="Century Gothic"/>
                <a:sym typeface="Century Gothic"/>
              </a:rPr>
            </a:br>
            <a:br>
              <a:rPr lang="en-US" sz="1600" b="0" i="0" u="none" strike="noStrike" cap="none" dirty="0">
                <a:solidFill>
                  <a:schemeClr val="dk1"/>
                </a:solidFill>
                <a:latin typeface="Century Gothic"/>
                <a:ea typeface="Century Gothic"/>
                <a:cs typeface="Century Gothic"/>
                <a:sym typeface="Century Gothic"/>
              </a:rPr>
            </a:br>
            <a:r>
              <a:rPr lang="en-US" sz="1600" b="1" i="0" u="none" strike="noStrike" cap="none" dirty="0">
                <a:solidFill>
                  <a:schemeClr val="dk1"/>
                </a:solidFill>
                <a:latin typeface="Century Gothic"/>
                <a:ea typeface="Century Gothic"/>
                <a:cs typeface="Century Gothic"/>
                <a:sym typeface="Century Gothic"/>
              </a:rPr>
              <a:t>Done :</a:t>
            </a:r>
            <a:endParaRPr sz="1600" b="1" i="0" u="none" strike="noStrike" cap="none" dirty="0">
              <a:solidFill>
                <a:schemeClr val="dk1"/>
              </a:solidFill>
              <a:latin typeface="Century Gothic"/>
              <a:ea typeface="Century Gothic"/>
              <a:cs typeface="Century Gothic"/>
              <a:sym typeface="Century Gothic"/>
            </a:endParaRPr>
          </a:p>
        </p:txBody>
      </p:sp>
      <p:pic>
        <p:nvPicPr>
          <p:cNvPr id="3" name="Picture 2">
            <a:extLst>
              <a:ext uri="{FF2B5EF4-FFF2-40B4-BE49-F238E27FC236}">
                <a16:creationId xmlns:a16="http://schemas.microsoft.com/office/drawing/2014/main" id="{681FC9F5-16AB-A900-FF71-D8FFA8F7C5D5}"/>
              </a:ext>
            </a:extLst>
          </p:cNvPr>
          <p:cNvPicPr>
            <a:picLocks noChangeAspect="1"/>
          </p:cNvPicPr>
          <p:nvPr/>
        </p:nvPicPr>
        <p:blipFill>
          <a:blip r:embed="rId5"/>
          <a:stretch>
            <a:fillRect/>
          </a:stretch>
        </p:blipFill>
        <p:spPr>
          <a:xfrm>
            <a:off x="5424105" y="1866997"/>
            <a:ext cx="6343650" cy="35718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pic>
        <p:nvPicPr>
          <p:cNvPr id="158" name="Google Shape;158;p25"/>
          <p:cNvPicPr preferRelativeResize="0"/>
          <p:nvPr/>
        </p:nvPicPr>
        <p:blipFill rotWithShape="1">
          <a:blip r:embed="rId3">
            <a:alphaModFix/>
          </a:blip>
          <a:srcRect/>
          <a:stretch/>
        </p:blipFill>
        <p:spPr>
          <a:xfrm>
            <a:off x="10318477" y="6222915"/>
            <a:ext cx="1449278" cy="234908"/>
          </a:xfrm>
          <a:prstGeom prst="rect">
            <a:avLst/>
          </a:prstGeom>
          <a:noFill/>
          <a:ln>
            <a:noFill/>
          </a:ln>
        </p:spPr>
      </p:pic>
      <p:pic>
        <p:nvPicPr>
          <p:cNvPr id="159" name="Google Shape;159;p25"/>
          <p:cNvPicPr preferRelativeResize="0"/>
          <p:nvPr/>
        </p:nvPicPr>
        <p:blipFill rotWithShape="1">
          <a:blip r:embed="rId4">
            <a:alphaModFix/>
          </a:blip>
          <a:srcRect/>
          <a:stretch/>
        </p:blipFill>
        <p:spPr>
          <a:xfrm>
            <a:off x="3247" y="0"/>
            <a:ext cx="104630" cy="6858000"/>
          </a:xfrm>
          <a:prstGeom prst="rect">
            <a:avLst/>
          </a:prstGeom>
          <a:noFill/>
          <a:ln>
            <a:noFill/>
          </a:ln>
        </p:spPr>
      </p:pic>
      <p:sp>
        <p:nvSpPr>
          <p:cNvPr id="160" name="Google Shape;160;p25"/>
          <p:cNvSpPr txBox="1"/>
          <p:nvPr/>
        </p:nvSpPr>
        <p:spPr>
          <a:xfrm>
            <a:off x="443739" y="422082"/>
            <a:ext cx="4789500" cy="1046430"/>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None/>
            </a:pPr>
            <a:r>
              <a:rPr lang="en-US" sz="3200" b="0" i="0" u="none" strike="noStrike" cap="none" dirty="0">
                <a:solidFill>
                  <a:schemeClr val="dk1"/>
                </a:solidFill>
                <a:latin typeface="Century Gothic"/>
                <a:ea typeface="Century Gothic"/>
                <a:cs typeface="Century Gothic"/>
                <a:sym typeface="Century Gothic"/>
              </a:rPr>
              <a:t>Create &amp; assign review tasks</a:t>
            </a:r>
            <a:endParaRPr lang="en-US" dirty="0"/>
          </a:p>
        </p:txBody>
      </p:sp>
      <p:cxnSp>
        <p:nvCxnSpPr>
          <p:cNvPr id="161" name="Google Shape;161;p25"/>
          <p:cNvCxnSpPr/>
          <p:nvPr/>
        </p:nvCxnSpPr>
        <p:spPr>
          <a:xfrm>
            <a:off x="519563" y="422082"/>
            <a:ext cx="3339809" cy="1"/>
          </a:xfrm>
          <a:prstGeom prst="straightConnector1">
            <a:avLst/>
          </a:prstGeom>
          <a:noFill/>
          <a:ln w="19050" cap="flat" cmpd="sng">
            <a:solidFill>
              <a:srgbClr val="AEAEAE"/>
            </a:solidFill>
            <a:prstDash val="solid"/>
            <a:round/>
            <a:headEnd type="none" w="sm" len="sm"/>
            <a:tailEnd type="none" w="sm" len="sm"/>
          </a:ln>
        </p:spPr>
      </p:cxnSp>
      <p:sp>
        <p:nvSpPr>
          <p:cNvPr id="162" name="Google Shape;162;p25"/>
          <p:cNvSpPr txBox="1"/>
          <p:nvPr/>
        </p:nvSpPr>
        <p:spPr>
          <a:xfrm>
            <a:off x="519563" y="2277664"/>
            <a:ext cx="4422600" cy="3041335"/>
          </a:xfrm>
          <a:prstGeom prst="rect">
            <a:avLst/>
          </a:prstGeom>
          <a:noFill/>
          <a:ln>
            <a:noFill/>
          </a:ln>
        </p:spPr>
        <p:txBody>
          <a:bodyPr spcFirstLastPara="1" wrap="square" lIns="60950" tIns="30475" rIns="60950" bIns="30475" anchor="t" anchorCtr="0">
            <a:spAutoFit/>
          </a:bodyPr>
          <a:lstStyle/>
          <a:p>
            <a:pPr marL="0" marR="0" lvl="0" indent="0" algn="l" rtl="0">
              <a:lnSpc>
                <a:spcPct val="115000"/>
              </a:lnSpc>
              <a:spcBef>
                <a:spcPts val="120"/>
              </a:spcBef>
              <a:spcAft>
                <a:spcPts val="0"/>
              </a:spcAft>
              <a:buClr>
                <a:srgbClr val="000000"/>
              </a:buClr>
              <a:buSzPts val="1600"/>
              <a:buFont typeface="Arial"/>
              <a:buNone/>
            </a:pPr>
            <a:r>
              <a:rPr lang="en-US" sz="1600" b="1" i="0" u="none" strike="noStrike" cap="none">
                <a:solidFill>
                  <a:schemeClr val="dk1"/>
                </a:solidFill>
                <a:latin typeface="Century Gothic"/>
                <a:ea typeface="Century Gothic"/>
                <a:cs typeface="Century Gothic"/>
                <a:sym typeface="Century Gothic"/>
              </a:rPr>
              <a:t>Editing the file from Repository Interface</a:t>
            </a:r>
            <a:br>
              <a:rPr lang="en-US" sz="1600" b="1" i="0" u="none" strike="noStrike" cap="none">
                <a:solidFill>
                  <a:schemeClr val="dk1"/>
                </a:solidFill>
                <a:latin typeface="Century Gothic"/>
                <a:ea typeface="Century Gothic"/>
                <a:cs typeface="Century Gothic"/>
                <a:sym typeface="Century Gothic"/>
              </a:rPr>
            </a:br>
            <a:endParaRPr sz="1600" b="1" i="0" u="none" strike="noStrike" cap="none">
              <a:solidFill>
                <a:schemeClr val="dk1"/>
              </a:solidFill>
              <a:latin typeface="Century Gothic"/>
              <a:ea typeface="Century Gothic"/>
              <a:cs typeface="Century Gothic"/>
              <a:sym typeface="Century Gothic"/>
            </a:endParaRPr>
          </a:p>
          <a:p>
            <a:pPr marL="285750" marR="0" lvl="0" indent="-285750" algn="l" rtl="0">
              <a:lnSpc>
                <a:spcPct val="100000"/>
              </a:lnSpc>
              <a:spcBef>
                <a:spcPts val="0"/>
              </a:spcBef>
              <a:spcAft>
                <a:spcPts val="0"/>
              </a:spcAft>
              <a:buClr>
                <a:srgbClr val="000000"/>
              </a:buClr>
              <a:buSzPts val="1400"/>
              <a:buFont typeface="Noto Sans Symbols"/>
              <a:buChar char="⮚"/>
            </a:pPr>
            <a:r>
              <a:rPr lang="en-US" sz="1400" b="0" i="0" u="none" strike="noStrike" cap="none">
                <a:solidFill>
                  <a:srgbClr val="000000"/>
                </a:solidFill>
                <a:latin typeface="Century Gothic"/>
                <a:ea typeface="Century Gothic"/>
                <a:cs typeface="Century Gothic"/>
                <a:sym typeface="Century Gothic"/>
              </a:rPr>
              <a:t>You can select one or multiple files from the list for editing.</a:t>
            </a:r>
            <a:br>
              <a:rPr lang="en-US" sz="1400" b="0" i="0" u="none" strike="noStrike" cap="none">
                <a:solidFill>
                  <a:srgbClr val="000000"/>
                </a:solidFill>
                <a:latin typeface="Century Gothic"/>
                <a:ea typeface="Century Gothic"/>
                <a:cs typeface="Century Gothic"/>
                <a:sym typeface="Century Gothic"/>
              </a:rPr>
            </a:br>
            <a:endParaRPr sz="1400" b="0" i="0" u="none" strike="noStrike" cap="none">
              <a:solidFill>
                <a:srgbClr val="000000"/>
              </a:solidFill>
              <a:latin typeface="Century Gothic"/>
              <a:ea typeface="Century Gothic"/>
              <a:cs typeface="Century Gothic"/>
              <a:sym typeface="Century Gothic"/>
            </a:endParaRPr>
          </a:p>
          <a:p>
            <a:pPr marL="285750" marR="0" lvl="0" indent="-285750" algn="l" rtl="0">
              <a:lnSpc>
                <a:spcPct val="100000"/>
              </a:lnSpc>
              <a:spcBef>
                <a:spcPts val="0"/>
              </a:spcBef>
              <a:spcAft>
                <a:spcPts val="0"/>
              </a:spcAft>
              <a:buClr>
                <a:srgbClr val="000000"/>
              </a:buClr>
              <a:buSzPts val="1400"/>
              <a:buFont typeface="Noto Sans Symbols"/>
              <a:buChar char="⮚"/>
            </a:pPr>
            <a:r>
              <a:rPr lang="en-US" sz="1400" b="0" i="0" u="none" strike="noStrike" cap="none">
                <a:solidFill>
                  <a:srgbClr val="000000"/>
                </a:solidFill>
                <a:latin typeface="Century Gothic"/>
                <a:ea typeface="Century Gothic"/>
                <a:cs typeface="Century Gothic"/>
                <a:sym typeface="Century Gothic"/>
              </a:rPr>
              <a:t>After selecting the desired files using the checkbox, the </a:t>
            </a:r>
            <a:r>
              <a:rPr lang="en-US" sz="1400" b="1" i="0" u="none" strike="noStrike" cap="none">
                <a:solidFill>
                  <a:srgbClr val="000000"/>
                </a:solidFill>
                <a:latin typeface="Century Gothic"/>
                <a:ea typeface="Century Gothic"/>
                <a:cs typeface="Century Gothic"/>
                <a:sym typeface="Century Gothic"/>
              </a:rPr>
              <a:t>Edit</a:t>
            </a:r>
            <a:r>
              <a:rPr lang="en-US" sz="1400" b="0" i="0" u="none" strike="noStrike" cap="none">
                <a:solidFill>
                  <a:srgbClr val="000000"/>
                </a:solidFill>
                <a:latin typeface="Century Gothic"/>
                <a:ea typeface="Century Gothic"/>
                <a:cs typeface="Century Gothic"/>
                <a:sym typeface="Century Gothic"/>
              </a:rPr>
              <a:t> option becomes available in the top-right corner of the Repository view.</a:t>
            </a:r>
            <a:br>
              <a:rPr lang="en-US" sz="1400" b="0" i="0" u="none" strike="noStrike" cap="none">
                <a:solidFill>
                  <a:srgbClr val="000000"/>
                </a:solidFill>
                <a:latin typeface="Century Gothic"/>
                <a:ea typeface="Century Gothic"/>
                <a:cs typeface="Century Gothic"/>
                <a:sym typeface="Century Gothic"/>
              </a:rPr>
            </a:br>
            <a:endParaRPr sz="1400" b="0" i="0" u="none" strike="noStrike" cap="none">
              <a:solidFill>
                <a:srgbClr val="000000"/>
              </a:solidFill>
              <a:latin typeface="Century Gothic"/>
              <a:ea typeface="Century Gothic"/>
              <a:cs typeface="Century Gothic"/>
              <a:sym typeface="Century Gothic"/>
            </a:endParaRPr>
          </a:p>
          <a:p>
            <a:pPr marL="285750" marR="0" lvl="0" indent="-285750" algn="l" rtl="0">
              <a:lnSpc>
                <a:spcPct val="100000"/>
              </a:lnSpc>
              <a:spcBef>
                <a:spcPts val="0"/>
              </a:spcBef>
              <a:spcAft>
                <a:spcPts val="0"/>
              </a:spcAft>
              <a:buClr>
                <a:srgbClr val="000000"/>
              </a:buClr>
              <a:buSzPts val="1400"/>
              <a:buFont typeface="Noto Sans Symbols"/>
              <a:buChar char="⮚"/>
            </a:pPr>
            <a:r>
              <a:rPr lang="en-US" sz="1400" b="0" i="0" u="none" strike="noStrike" cap="none">
                <a:solidFill>
                  <a:srgbClr val="000000"/>
                </a:solidFill>
                <a:latin typeface="Century Gothic"/>
                <a:ea typeface="Century Gothic"/>
                <a:cs typeface="Century Gothic"/>
                <a:sym typeface="Century Gothic"/>
              </a:rPr>
              <a:t>Selecting </a:t>
            </a:r>
            <a:r>
              <a:rPr lang="en-US" sz="1400" b="1" i="0" u="none" strike="noStrike" cap="none">
                <a:solidFill>
                  <a:srgbClr val="000000"/>
                </a:solidFill>
                <a:latin typeface="Century Gothic"/>
                <a:ea typeface="Century Gothic"/>
                <a:cs typeface="Century Gothic"/>
                <a:sym typeface="Century Gothic"/>
              </a:rPr>
              <a:t>Edit</a:t>
            </a:r>
            <a:r>
              <a:rPr lang="en-US" sz="1400" b="0" i="0" u="none" strike="noStrike" cap="none">
                <a:solidFill>
                  <a:srgbClr val="000000"/>
                </a:solidFill>
                <a:latin typeface="Century Gothic"/>
                <a:ea typeface="Century Gothic"/>
                <a:cs typeface="Century Gothic"/>
                <a:sym typeface="Century Gothic"/>
              </a:rPr>
              <a:t> opens the selected file(s) in the Editor interface, where you can begin editing the file.</a:t>
            </a:r>
            <a:endParaRPr/>
          </a:p>
          <a:p>
            <a:pPr marL="0" marR="0" lvl="0" indent="0" algn="l" rtl="0">
              <a:lnSpc>
                <a:spcPct val="100000"/>
              </a:lnSpc>
              <a:spcBef>
                <a:spcPts val="0"/>
              </a:spcBef>
              <a:spcAft>
                <a:spcPts val="0"/>
              </a:spcAft>
              <a:buNone/>
            </a:pPr>
            <a:endParaRPr sz="1600" b="0" i="0" u="none" strike="noStrike" cap="none">
              <a:solidFill>
                <a:schemeClr val="dk1"/>
              </a:solidFill>
              <a:latin typeface="Century Gothic"/>
              <a:ea typeface="Century Gothic"/>
              <a:cs typeface="Century Gothic"/>
              <a:sym typeface="Century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p26"/>
          <p:cNvPicPr preferRelativeResize="0"/>
          <p:nvPr/>
        </p:nvPicPr>
        <p:blipFill rotWithShape="1">
          <a:blip r:embed="rId3">
            <a:alphaModFix/>
          </a:blip>
          <a:srcRect/>
          <a:stretch/>
        </p:blipFill>
        <p:spPr>
          <a:xfrm>
            <a:off x="10318477" y="6222915"/>
            <a:ext cx="1449278" cy="234908"/>
          </a:xfrm>
          <a:prstGeom prst="rect">
            <a:avLst/>
          </a:prstGeom>
          <a:noFill/>
          <a:ln>
            <a:noFill/>
          </a:ln>
        </p:spPr>
      </p:pic>
      <p:pic>
        <p:nvPicPr>
          <p:cNvPr id="169" name="Google Shape;169;p26"/>
          <p:cNvPicPr preferRelativeResize="0"/>
          <p:nvPr/>
        </p:nvPicPr>
        <p:blipFill rotWithShape="1">
          <a:blip r:embed="rId4">
            <a:alphaModFix/>
          </a:blip>
          <a:srcRect/>
          <a:stretch/>
        </p:blipFill>
        <p:spPr>
          <a:xfrm>
            <a:off x="3247" y="0"/>
            <a:ext cx="104630" cy="6858000"/>
          </a:xfrm>
          <a:prstGeom prst="rect">
            <a:avLst/>
          </a:prstGeom>
          <a:noFill/>
          <a:ln>
            <a:noFill/>
          </a:ln>
        </p:spPr>
      </p:pic>
      <p:sp>
        <p:nvSpPr>
          <p:cNvPr id="170" name="Google Shape;170;p26"/>
          <p:cNvSpPr txBox="1"/>
          <p:nvPr/>
        </p:nvSpPr>
        <p:spPr>
          <a:xfrm>
            <a:off x="443739" y="422082"/>
            <a:ext cx="4789500" cy="553988"/>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None/>
            </a:pPr>
            <a:r>
              <a:rPr lang="en-US" sz="3200" b="0" i="0" u="none" strike="noStrike" cap="none" dirty="0">
                <a:solidFill>
                  <a:schemeClr val="dk1"/>
                </a:solidFill>
                <a:latin typeface="Century Gothic"/>
                <a:ea typeface="Century Gothic"/>
                <a:cs typeface="Century Gothic"/>
                <a:sym typeface="Century Gothic"/>
              </a:rPr>
              <a:t>Multiple maps review</a:t>
            </a:r>
            <a:endParaRPr dirty="0"/>
          </a:p>
        </p:txBody>
      </p:sp>
      <p:cxnSp>
        <p:nvCxnSpPr>
          <p:cNvPr id="171" name="Google Shape;171;p26"/>
          <p:cNvCxnSpPr/>
          <p:nvPr/>
        </p:nvCxnSpPr>
        <p:spPr>
          <a:xfrm>
            <a:off x="519563" y="422082"/>
            <a:ext cx="3339809" cy="1"/>
          </a:xfrm>
          <a:prstGeom prst="straightConnector1">
            <a:avLst/>
          </a:prstGeom>
          <a:noFill/>
          <a:ln w="19050" cap="flat" cmpd="sng">
            <a:solidFill>
              <a:srgbClr val="AEAEAE"/>
            </a:solidFill>
            <a:prstDash val="solid"/>
            <a:round/>
            <a:headEnd type="none" w="sm" len="sm"/>
            <a:tailEnd type="none" w="sm" len="sm"/>
          </a:ln>
        </p:spPr>
      </p:cxnSp>
      <p:sp>
        <p:nvSpPr>
          <p:cNvPr id="172" name="Google Shape;172;p26"/>
          <p:cNvSpPr txBox="1"/>
          <p:nvPr/>
        </p:nvSpPr>
        <p:spPr>
          <a:xfrm>
            <a:off x="519563" y="2277664"/>
            <a:ext cx="4422600" cy="3435289"/>
          </a:xfrm>
          <a:prstGeom prst="rect">
            <a:avLst/>
          </a:prstGeom>
          <a:noFill/>
          <a:ln>
            <a:noFill/>
          </a:ln>
        </p:spPr>
        <p:txBody>
          <a:bodyPr spcFirstLastPara="1" wrap="square" lIns="60950" tIns="30475" rIns="60950" bIns="30475" anchor="t" anchorCtr="0">
            <a:spAutoFit/>
          </a:bodyPr>
          <a:lstStyle/>
          <a:p>
            <a:pPr marL="0" marR="0" lvl="0" indent="0" algn="l" rtl="0">
              <a:lnSpc>
                <a:spcPct val="115000"/>
              </a:lnSpc>
              <a:spcBef>
                <a:spcPts val="120"/>
              </a:spcBef>
              <a:spcAft>
                <a:spcPts val="0"/>
              </a:spcAft>
              <a:buClr>
                <a:srgbClr val="000000"/>
              </a:buClr>
              <a:buSzPts val="1600"/>
              <a:buFont typeface="Arial"/>
              <a:buNone/>
            </a:pPr>
            <a:r>
              <a:rPr lang="en-US" sz="1600" b="1" i="0" u="none" strike="noStrike" cap="none" dirty="0">
                <a:solidFill>
                  <a:schemeClr val="dk1"/>
                </a:solidFill>
                <a:latin typeface="Century Gothic"/>
                <a:ea typeface="Century Gothic"/>
                <a:cs typeface="Century Gothic"/>
                <a:sym typeface="Century Gothic"/>
              </a:rPr>
              <a:t>Explorer</a:t>
            </a:r>
            <a:br>
              <a:rPr lang="en-US" sz="1600" b="1" i="0" u="none" strike="noStrike" cap="none" dirty="0">
                <a:solidFill>
                  <a:schemeClr val="dk1"/>
                </a:solidFill>
                <a:latin typeface="Century Gothic"/>
                <a:ea typeface="Century Gothic"/>
                <a:cs typeface="Century Gothic"/>
                <a:sym typeface="Century Gothic"/>
              </a:rPr>
            </a:br>
            <a:endParaRPr sz="1600" b="1" i="0" u="none" strike="noStrike" cap="none" dirty="0">
              <a:solidFill>
                <a:schemeClr val="dk1"/>
              </a:solidFill>
              <a:latin typeface="Century Gothic"/>
              <a:ea typeface="Century Gothic"/>
              <a:cs typeface="Century Gothic"/>
              <a:sym typeface="Century Gothic"/>
            </a:endParaRPr>
          </a:p>
          <a:p>
            <a:pPr marL="0" marR="0" lvl="0" indent="0" algn="l" rtl="0">
              <a:lnSpc>
                <a:spcPct val="115000"/>
              </a:lnSpc>
              <a:spcBef>
                <a:spcPts val="0"/>
              </a:spcBef>
              <a:spcAft>
                <a:spcPts val="0"/>
              </a:spcAft>
              <a:buClr>
                <a:srgbClr val="000000"/>
              </a:buClr>
              <a:buSzPts val="1600"/>
              <a:buFont typeface="Arial"/>
              <a:buNone/>
            </a:pPr>
            <a:r>
              <a:rPr lang="en-US" sz="1600" b="0" i="0" u="none" strike="noStrike" cap="none" dirty="0">
                <a:solidFill>
                  <a:schemeClr val="dk1"/>
                </a:solidFill>
                <a:latin typeface="Century Gothic"/>
                <a:ea typeface="Century Gothic"/>
                <a:cs typeface="Century Gothic"/>
                <a:sym typeface="Century Gothic"/>
              </a:rPr>
              <a:t>Displays the content hierarchy stored in the AEM repository. Allows users to browse folders, create new assets (topics, maps, folders), edit content, and manage files. </a:t>
            </a:r>
            <a:br>
              <a:rPr lang="en-US" sz="1600" b="0" i="0" u="none" strike="noStrike" cap="none" dirty="0">
                <a:solidFill>
                  <a:schemeClr val="dk1"/>
                </a:solidFill>
                <a:latin typeface="Century Gothic"/>
                <a:ea typeface="Century Gothic"/>
                <a:cs typeface="Century Gothic"/>
                <a:sym typeface="Century Gothic"/>
              </a:rPr>
            </a:br>
            <a:br>
              <a:rPr lang="en-US" sz="1600" b="0" i="0" u="none" strike="noStrike" cap="none" dirty="0">
                <a:solidFill>
                  <a:schemeClr val="dk1"/>
                </a:solidFill>
                <a:latin typeface="Century Gothic"/>
                <a:ea typeface="Century Gothic"/>
                <a:cs typeface="Century Gothic"/>
                <a:sym typeface="Century Gothic"/>
              </a:rPr>
            </a:br>
            <a:r>
              <a:rPr lang="en-US" sz="1600" b="0" i="0" u="none" strike="noStrike" cap="none" dirty="0">
                <a:solidFill>
                  <a:schemeClr val="dk1"/>
                </a:solidFill>
                <a:latin typeface="Century Gothic"/>
                <a:ea typeface="Century Gothic"/>
                <a:cs typeface="Century Gothic"/>
                <a:sym typeface="Century Gothic"/>
              </a:rPr>
              <a:t>Access via: Select Editor in the dropdown(top-left section as highlighted in the image) → Select Explorer in the left pane.</a:t>
            </a:r>
            <a:endParaRPr dirty="0"/>
          </a:p>
          <a:p>
            <a:pPr marL="0" marR="0" lvl="0" indent="0" algn="l" rtl="0">
              <a:lnSpc>
                <a:spcPct val="100000"/>
              </a:lnSpc>
              <a:spcBef>
                <a:spcPts val="0"/>
              </a:spcBef>
              <a:spcAft>
                <a:spcPts val="0"/>
              </a:spcAft>
              <a:buNone/>
            </a:pPr>
            <a:endParaRPr sz="1600" b="0" i="0" u="none" strike="noStrike" cap="none" dirty="0">
              <a:solidFill>
                <a:schemeClr val="dk1"/>
              </a:solidFill>
              <a:latin typeface="Century Gothic"/>
              <a:ea typeface="Century Gothic"/>
              <a:cs typeface="Century Gothic"/>
              <a:sym typeface="Century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178" name="Google Shape;178;p27"/>
          <p:cNvPicPr preferRelativeResize="0"/>
          <p:nvPr/>
        </p:nvPicPr>
        <p:blipFill rotWithShape="1">
          <a:blip r:embed="rId3">
            <a:alphaModFix/>
          </a:blip>
          <a:srcRect/>
          <a:stretch/>
        </p:blipFill>
        <p:spPr>
          <a:xfrm>
            <a:off x="10318477" y="6222915"/>
            <a:ext cx="1449278" cy="234908"/>
          </a:xfrm>
          <a:prstGeom prst="rect">
            <a:avLst/>
          </a:prstGeom>
          <a:noFill/>
          <a:ln>
            <a:noFill/>
          </a:ln>
        </p:spPr>
      </p:pic>
      <p:pic>
        <p:nvPicPr>
          <p:cNvPr id="179" name="Google Shape;179;p27"/>
          <p:cNvPicPr preferRelativeResize="0"/>
          <p:nvPr/>
        </p:nvPicPr>
        <p:blipFill rotWithShape="1">
          <a:blip r:embed="rId4">
            <a:alphaModFix/>
          </a:blip>
          <a:srcRect/>
          <a:stretch/>
        </p:blipFill>
        <p:spPr>
          <a:xfrm>
            <a:off x="3247" y="0"/>
            <a:ext cx="104630" cy="6858000"/>
          </a:xfrm>
          <a:prstGeom prst="rect">
            <a:avLst/>
          </a:prstGeom>
          <a:noFill/>
          <a:ln>
            <a:noFill/>
          </a:ln>
        </p:spPr>
      </p:pic>
      <p:sp>
        <p:nvSpPr>
          <p:cNvPr id="180" name="Google Shape;180;p27"/>
          <p:cNvSpPr txBox="1"/>
          <p:nvPr/>
        </p:nvSpPr>
        <p:spPr>
          <a:xfrm>
            <a:off x="443739" y="487396"/>
            <a:ext cx="4789500" cy="553988"/>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dirty="0">
                <a:solidFill>
                  <a:schemeClr val="dk1"/>
                </a:solidFill>
                <a:latin typeface="Century Gothic"/>
                <a:ea typeface="Century Gothic"/>
                <a:cs typeface="Century Gothic"/>
                <a:sym typeface="Century Gothic"/>
              </a:rPr>
              <a:t>R</a:t>
            </a:r>
            <a:r>
              <a:rPr lang="en-US" sz="3200" b="0" i="0" u="none" strike="noStrike" cap="none" dirty="0">
                <a:solidFill>
                  <a:schemeClr val="dk1"/>
                </a:solidFill>
                <a:latin typeface="Century Gothic"/>
                <a:ea typeface="Century Gothic"/>
                <a:cs typeface="Century Gothic"/>
                <a:sym typeface="Century Gothic"/>
              </a:rPr>
              <a:t>eviewer Experience</a:t>
            </a:r>
            <a:endParaRPr lang="en-US" dirty="0"/>
          </a:p>
        </p:txBody>
      </p:sp>
      <p:cxnSp>
        <p:nvCxnSpPr>
          <p:cNvPr id="181" name="Google Shape;181;p27"/>
          <p:cNvCxnSpPr/>
          <p:nvPr/>
        </p:nvCxnSpPr>
        <p:spPr>
          <a:xfrm rot="10800000" flipH="1">
            <a:off x="508370" y="419676"/>
            <a:ext cx="3232948" cy="2406"/>
          </a:xfrm>
          <a:prstGeom prst="straightConnector1">
            <a:avLst/>
          </a:prstGeom>
          <a:noFill/>
          <a:ln w="19050" cap="flat" cmpd="sng">
            <a:solidFill>
              <a:srgbClr val="AEAEAE"/>
            </a:solidFill>
            <a:prstDash val="solid"/>
            <a:round/>
            <a:headEnd type="none" w="sm" len="sm"/>
            <a:tailEnd type="none" w="sm" len="sm"/>
          </a:ln>
        </p:spPr>
      </p:cxnSp>
      <p:sp>
        <p:nvSpPr>
          <p:cNvPr id="182" name="Google Shape;182;p27"/>
          <p:cNvSpPr txBox="1"/>
          <p:nvPr/>
        </p:nvSpPr>
        <p:spPr>
          <a:xfrm>
            <a:off x="508370" y="1859274"/>
            <a:ext cx="4422600" cy="3398356"/>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None/>
            </a:pPr>
            <a:endParaRPr sz="1600" b="0" i="0" u="none" strike="noStrike" cap="none">
              <a:solidFill>
                <a:schemeClr val="dk1"/>
              </a:solidFill>
              <a:latin typeface="Century Gothic"/>
              <a:ea typeface="Century Gothic"/>
              <a:cs typeface="Century Gothic"/>
              <a:sym typeface="Century Gothic"/>
            </a:endParaRPr>
          </a:p>
          <a:p>
            <a:pPr marL="0" marR="0" lvl="0" indent="0" algn="l" rtl="0">
              <a:lnSpc>
                <a:spcPct val="115000"/>
              </a:lnSpc>
              <a:spcBef>
                <a:spcPts val="120"/>
              </a:spcBef>
              <a:spcAft>
                <a:spcPts val="0"/>
              </a:spcAft>
              <a:buClr>
                <a:srgbClr val="000000"/>
              </a:buClr>
              <a:buSzPts val="1600"/>
              <a:buFont typeface="Arial"/>
              <a:buNone/>
            </a:pPr>
            <a:r>
              <a:rPr lang="en-US" sz="1600" b="1" i="0" u="none" strike="noStrike" cap="none">
                <a:solidFill>
                  <a:schemeClr val="dk1"/>
                </a:solidFill>
                <a:latin typeface="Century Gothic"/>
                <a:ea typeface="Century Gothic"/>
                <a:cs typeface="Century Gothic"/>
                <a:sym typeface="Century Gothic"/>
              </a:rPr>
              <a:t>Editor</a:t>
            </a:r>
            <a:endParaRPr/>
          </a:p>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chemeClr val="dk1"/>
                </a:solidFill>
                <a:latin typeface="Century Gothic"/>
                <a:ea typeface="Century Gothic"/>
                <a:cs typeface="Century Gothic"/>
                <a:sym typeface="Century Gothic"/>
              </a:rPr>
              <a:t>The Editor is the primary workspace where authors create and modify DITA content. It provides multiple authoring modes — Author, Source, and Preview — along with options to insert topic references, reusable content, and topic groups.</a:t>
            </a:r>
            <a:br>
              <a:rPr lang="en-US" sz="1600" b="0" i="0" u="none" strike="noStrike" cap="none">
                <a:solidFill>
                  <a:schemeClr val="dk1"/>
                </a:solidFill>
                <a:latin typeface="Century Gothic"/>
                <a:ea typeface="Century Gothic"/>
                <a:cs typeface="Century Gothic"/>
                <a:sym typeface="Century Gothic"/>
              </a:rPr>
            </a:br>
            <a:br>
              <a:rPr lang="en-US" sz="1600" b="0" i="0" u="none" strike="noStrike" cap="none">
                <a:solidFill>
                  <a:schemeClr val="dk1"/>
                </a:solidFill>
                <a:latin typeface="Century Gothic"/>
                <a:ea typeface="Century Gothic"/>
                <a:cs typeface="Century Gothic"/>
                <a:sym typeface="Century Gothic"/>
              </a:rPr>
            </a:br>
            <a:r>
              <a:rPr lang="en-US" sz="1600" b="0" i="0" u="none" strike="noStrike" cap="none">
                <a:solidFill>
                  <a:schemeClr val="dk1"/>
                </a:solidFill>
                <a:latin typeface="Century Gothic"/>
                <a:ea typeface="Century Gothic"/>
                <a:cs typeface="Century Gothic"/>
                <a:sym typeface="Century Gothic"/>
              </a:rPr>
              <a:t>Double clicking a map or topic opens the file in Editor view</a:t>
            </a:r>
            <a:endParaRPr/>
          </a:p>
          <a:p>
            <a:pPr marL="0" marR="0" lvl="0" indent="0" algn="l" rtl="0">
              <a:lnSpc>
                <a:spcPct val="100000"/>
              </a:lnSpc>
              <a:spcBef>
                <a:spcPts val="0"/>
              </a:spcBef>
              <a:spcAft>
                <a:spcPts val="0"/>
              </a:spcAft>
              <a:buNone/>
            </a:pPr>
            <a:endParaRPr sz="1600" b="0" i="0" u="none" strike="noStrike" cap="none">
              <a:solidFill>
                <a:schemeClr val="dk1"/>
              </a:solidFill>
              <a:latin typeface="Century Gothic"/>
              <a:ea typeface="Century Gothic"/>
              <a:cs typeface="Century Gothic"/>
              <a:sym typeface="Century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pic>
        <p:nvPicPr>
          <p:cNvPr id="189" name="Google Shape;189;p28"/>
          <p:cNvPicPr preferRelativeResize="0"/>
          <p:nvPr/>
        </p:nvPicPr>
        <p:blipFill rotWithShape="1">
          <a:blip r:embed="rId3">
            <a:alphaModFix/>
          </a:blip>
          <a:srcRect/>
          <a:stretch/>
        </p:blipFill>
        <p:spPr>
          <a:xfrm>
            <a:off x="10318477" y="6222915"/>
            <a:ext cx="1449278" cy="234908"/>
          </a:xfrm>
          <a:prstGeom prst="rect">
            <a:avLst/>
          </a:prstGeom>
          <a:noFill/>
          <a:ln>
            <a:noFill/>
          </a:ln>
        </p:spPr>
      </p:pic>
      <p:pic>
        <p:nvPicPr>
          <p:cNvPr id="190" name="Google Shape;190;p28"/>
          <p:cNvPicPr preferRelativeResize="0"/>
          <p:nvPr/>
        </p:nvPicPr>
        <p:blipFill rotWithShape="1">
          <a:blip r:embed="rId4">
            <a:alphaModFix/>
          </a:blip>
          <a:srcRect/>
          <a:stretch/>
        </p:blipFill>
        <p:spPr>
          <a:xfrm>
            <a:off x="3247" y="0"/>
            <a:ext cx="104630" cy="6858000"/>
          </a:xfrm>
          <a:prstGeom prst="rect">
            <a:avLst/>
          </a:prstGeom>
          <a:noFill/>
          <a:ln>
            <a:noFill/>
          </a:ln>
        </p:spPr>
      </p:pic>
      <p:sp>
        <p:nvSpPr>
          <p:cNvPr id="191" name="Google Shape;191;p28"/>
          <p:cNvSpPr txBox="1"/>
          <p:nvPr/>
        </p:nvSpPr>
        <p:spPr>
          <a:xfrm>
            <a:off x="443739" y="422082"/>
            <a:ext cx="4789500" cy="553988"/>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None/>
            </a:pPr>
            <a:r>
              <a:rPr lang="en-US" sz="3200" b="0" i="0" u="none" strike="noStrike" cap="none" dirty="0">
                <a:solidFill>
                  <a:schemeClr val="dk1"/>
                </a:solidFill>
                <a:latin typeface="Century Gothic"/>
                <a:ea typeface="Century Gothic"/>
                <a:cs typeface="Century Gothic"/>
                <a:sym typeface="Century Gothic"/>
              </a:rPr>
              <a:t>Notifications &amp; Inbox</a:t>
            </a:r>
            <a:endParaRPr dirty="0"/>
          </a:p>
        </p:txBody>
      </p:sp>
      <p:cxnSp>
        <p:nvCxnSpPr>
          <p:cNvPr id="192" name="Google Shape;192;p28"/>
          <p:cNvCxnSpPr/>
          <p:nvPr/>
        </p:nvCxnSpPr>
        <p:spPr>
          <a:xfrm>
            <a:off x="531957" y="422082"/>
            <a:ext cx="3327415" cy="1"/>
          </a:xfrm>
          <a:prstGeom prst="straightConnector1">
            <a:avLst/>
          </a:prstGeom>
          <a:noFill/>
          <a:ln w="19050" cap="flat" cmpd="sng">
            <a:solidFill>
              <a:srgbClr val="AEAEAE"/>
            </a:solidFill>
            <a:prstDash val="solid"/>
            <a:round/>
            <a:headEnd type="none" w="sm" len="sm"/>
            <a:tailEnd type="none" w="sm" len="sm"/>
          </a:ln>
        </p:spPr>
      </p:cxnSp>
      <p:sp>
        <p:nvSpPr>
          <p:cNvPr id="193" name="Google Shape;193;p28"/>
          <p:cNvSpPr txBox="1"/>
          <p:nvPr/>
        </p:nvSpPr>
        <p:spPr>
          <a:xfrm>
            <a:off x="531957" y="1852932"/>
            <a:ext cx="4422600" cy="3152135"/>
          </a:xfrm>
          <a:prstGeom prst="rect">
            <a:avLst/>
          </a:prstGeom>
          <a:noFill/>
          <a:ln>
            <a:noFill/>
          </a:ln>
        </p:spPr>
        <p:txBody>
          <a:bodyPr spcFirstLastPara="1" wrap="square" lIns="60950" tIns="30475" rIns="60950" bIns="30475" anchor="t" anchorCtr="0">
            <a:spAutoFit/>
          </a:bodyPr>
          <a:lstStyle/>
          <a:p>
            <a:pPr marL="0" marR="0" lvl="0" indent="0" algn="l" rtl="0">
              <a:lnSpc>
                <a:spcPct val="115000"/>
              </a:lnSpc>
              <a:spcBef>
                <a:spcPts val="120"/>
              </a:spcBef>
              <a:spcAft>
                <a:spcPts val="0"/>
              </a:spcAft>
              <a:buClr>
                <a:srgbClr val="000000"/>
              </a:buClr>
              <a:buSzPts val="1600"/>
              <a:buFont typeface="Arial"/>
              <a:buNone/>
            </a:pPr>
            <a:r>
              <a:rPr lang="en-US" sz="1600" b="1" i="0" u="none" strike="noStrike" cap="none">
                <a:solidFill>
                  <a:schemeClr val="dk1"/>
                </a:solidFill>
                <a:latin typeface="Century Gothic"/>
                <a:ea typeface="Century Gothic"/>
                <a:cs typeface="Century Gothic"/>
                <a:sym typeface="Century Gothic"/>
              </a:rPr>
              <a:t>Map View</a:t>
            </a:r>
            <a:br>
              <a:rPr lang="en-US" sz="1600" b="1" i="0" u="none" strike="noStrike" cap="none">
                <a:solidFill>
                  <a:schemeClr val="dk1"/>
                </a:solidFill>
                <a:latin typeface="Century Gothic"/>
                <a:ea typeface="Century Gothic"/>
                <a:cs typeface="Century Gothic"/>
                <a:sym typeface="Century Gothic"/>
              </a:rPr>
            </a:br>
            <a:endParaRPr sz="1600" b="1" i="0" u="none" strike="noStrike" cap="none">
              <a:solidFill>
                <a:schemeClr val="dk1"/>
              </a:solidFill>
              <a:latin typeface="Century Gothic"/>
              <a:ea typeface="Century Gothic"/>
              <a:cs typeface="Century Gothic"/>
              <a:sym typeface="Century Gothic"/>
            </a:endParaRPr>
          </a:p>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chemeClr val="dk1"/>
                </a:solidFill>
                <a:latin typeface="Century Gothic"/>
                <a:ea typeface="Century Gothic"/>
                <a:cs typeface="Century Gothic"/>
                <a:sym typeface="Century Gothic"/>
              </a:rPr>
              <a:t>Provides a structured outline of the DITA map and all topics referenced within it. Authors can visualize the map structure, manage topic references, reorder content, and open or edit individual topics directly from the hierarchy.</a:t>
            </a:r>
            <a:endParaRPr/>
          </a:p>
          <a:p>
            <a:pPr marL="0" marR="0" lvl="0" indent="0" algn="l" rtl="0">
              <a:lnSpc>
                <a:spcPct val="100000"/>
              </a:lnSpc>
              <a:spcBef>
                <a:spcPts val="0"/>
              </a:spcBef>
              <a:spcAft>
                <a:spcPts val="0"/>
              </a:spcAft>
              <a:buNone/>
            </a:pPr>
            <a:endParaRPr sz="1600" b="0" i="0" u="none" strike="noStrike" cap="none">
              <a:solidFill>
                <a:schemeClr val="dk1"/>
              </a:solidFill>
              <a:latin typeface="Century Gothic"/>
              <a:ea typeface="Century Gothic"/>
              <a:cs typeface="Century Gothic"/>
              <a:sym typeface="Century Gothic"/>
            </a:endParaRPr>
          </a:p>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chemeClr val="dk1"/>
                </a:solidFill>
                <a:latin typeface="Century Gothic"/>
                <a:ea typeface="Century Gothic"/>
                <a:cs typeface="Century Gothic"/>
                <a:sym typeface="Century Gothic"/>
              </a:rPr>
              <a:t>To open Map View: double-click a map file when in the Repository View.</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0"/>
        <p:cNvGrpSpPr/>
        <p:nvPr/>
      </p:nvGrpSpPr>
      <p:grpSpPr>
        <a:xfrm>
          <a:off x="0" y="0"/>
          <a:ext cx="0" cy="0"/>
          <a:chOff x="0" y="0"/>
          <a:chExt cx="0" cy="0"/>
        </a:xfrm>
      </p:grpSpPr>
      <p:pic>
        <p:nvPicPr>
          <p:cNvPr id="9" name="Picture 8">
            <a:extLst>
              <a:ext uri="{FF2B5EF4-FFF2-40B4-BE49-F238E27FC236}">
                <a16:creationId xmlns:a16="http://schemas.microsoft.com/office/drawing/2014/main" id="{52CD5270-D27B-B606-C5A7-B2E58855F411}"/>
              </a:ext>
            </a:extLst>
          </p:cNvPr>
          <p:cNvPicPr>
            <a:picLocks noChangeAspect="1"/>
          </p:cNvPicPr>
          <p:nvPr/>
        </p:nvPicPr>
        <p:blipFill>
          <a:blip r:embed="rId3"/>
          <a:stretch>
            <a:fillRect/>
          </a:stretch>
        </p:blipFill>
        <p:spPr>
          <a:xfrm>
            <a:off x="0" y="0"/>
            <a:ext cx="12192000" cy="7479102"/>
          </a:xfrm>
          <a:prstGeom prst="rect">
            <a:avLst/>
          </a:prstGeom>
        </p:spPr>
      </p:pic>
      <p:pic>
        <p:nvPicPr>
          <p:cNvPr id="10" name="Google Shape;332;p10">
            <a:extLst>
              <a:ext uri="{FF2B5EF4-FFF2-40B4-BE49-F238E27FC236}">
                <a16:creationId xmlns:a16="http://schemas.microsoft.com/office/drawing/2014/main" id="{5C70F2F9-193C-EEFA-D958-45FDD9A96DC4}"/>
              </a:ext>
            </a:extLst>
          </p:cNvPr>
          <p:cNvPicPr preferRelativeResize="0"/>
          <p:nvPr/>
        </p:nvPicPr>
        <p:blipFill rotWithShape="1">
          <a:blip r:embed="rId4">
            <a:alphaModFix/>
          </a:blip>
          <a:srcRect/>
          <a:stretch/>
        </p:blipFill>
        <p:spPr>
          <a:xfrm>
            <a:off x="10705921" y="6342609"/>
            <a:ext cx="1138899" cy="18168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0">
          <a:extLst>
            <a:ext uri="{FF2B5EF4-FFF2-40B4-BE49-F238E27FC236}">
              <a16:creationId xmlns:a16="http://schemas.microsoft.com/office/drawing/2014/main" id="{E0DB59E8-804D-6366-559B-079BD4EDB4A6}"/>
            </a:ext>
          </a:extLst>
        </p:cNvPr>
        <p:cNvGrpSpPr/>
        <p:nvPr/>
      </p:nvGrpSpPr>
      <p:grpSpPr>
        <a:xfrm>
          <a:off x="0" y="0"/>
          <a:ext cx="0" cy="0"/>
          <a:chOff x="0" y="0"/>
          <a:chExt cx="0" cy="0"/>
        </a:xfrm>
      </p:grpSpPr>
      <p:pic>
        <p:nvPicPr>
          <p:cNvPr id="331" name="Google Shape;331;p10" descr="A white background with blue circles and red text  AI-generated content may be incorrect.">
            <a:extLst>
              <a:ext uri="{FF2B5EF4-FFF2-40B4-BE49-F238E27FC236}">
                <a16:creationId xmlns:a16="http://schemas.microsoft.com/office/drawing/2014/main" id="{7DC0380E-89DE-9796-9952-2D9292AFF3EB}"/>
              </a:ext>
            </a:extLst>
          </p:cNvPr>
          <p:cNvPicPr preferRelativeResize="0"/>
          <p:nvPr/>
        </p:nvPicPr>
        <p:blipFill rotWithShape="1">
          <a:blip r:embed="rId3">
            <a:alphaModFix/>
          </a:blip>
          <a:srcRect t="11394" b="9395"/>
          <a:stretch/>
        </p:blipFill>
        <p:spPr>
          <a:xfrm>
            <a:off x="20" y="1282"/>
            <a:ext cx="12191980" cy="6856718"/>
          </a:xfrm>
          <a:prstGeom prst="rect">
            <a:avLst/>
          </a:prstGeom>
          <a:noFill/>
          <a:ln>
            <a:noFill/>
          </a:ln>
        </p:spPr>
      </p:pic>
      <p:pic>
        <p:nvPicPr>
          <p:cNvPr id="332" name="Google Shape;332;p10">
            <a:extLst>
              <a:ext uri="{FF2B5EF4-FFF2-40B4-BE49-F238E27FC236}">
                <a16:creationId xmlns:a16="http://schemas.microsoft.com/office/drawing/2014/main" id="{72A18614-4053-24F1-9B07-BFC034635551}"/>
              </a:ext>
            </a:extLst>
          </p:cNvPr>
          <p:cNvPicPr preferRelativeResize="0"/>
          <p:nvPr/>
        </p:nvPicPr>
        <p:blipFill rotWithShape="1">
          <a:blip r:embed="rId4">
            <a:alphaModFix/>
          </a:blip>
          <a:srcRect/>
          <a:stretch/>
        </p:blipFill>
        <p:spPr>
          <a:xfrm>
            <a:off x="10705921" y="6342609"/>
            <a:ext cx="1138899" cy="181683"/>
          </a:xfrm>
          <a:prstGeom prst="rect">
            <a:avLst/>
          </a:prstGeom>
          <a:noFill/>
          <a:ln>
            <a:noFill/>
          </a:ln>
        </p:spPr>
      </p:pic>
    </p:spTree>
    <p:extLst>
      <p:ext uri="{BB962C8B-B14F-4D97-AF65-F5344CB8AC3E}">
        <p14:creationId xmlns:p14="http://schemas.microsoft.com/office/powerpoint/2010/main" val="385676053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1179</TotalTime>
  <Words>762</Words>
  <Application>Microsoft Office PowerPoint</Application>
  <PresentationFormat>Widescreen</PresentationFormat>
  <Paragraphs>74</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Play</vt:lpstr>
      <vt:lpstr>Century Gothic</vt:lpstr>
      <vt:lpstr>Noto Sans Symbols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Arindam</dc:creator>
  <cp:lastModifiedBy>Arindam Chakravorty</cp:lastModifiedBy>
  <cp:revision>4</cp:revision>
  <dcterms:created xsi:type="dcterms:W3CDTF">2013-07-15T20:26:40Z</dcterms:created>
  <dcterms:modified xsi:type="dcterms:W3CDTF">2026-04-07T09:15:37Z</dcterms:modified>
</cp:coreProperties>
</file>